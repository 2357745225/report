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6" r:id="rId7"/>
    <p:sldId id="267" r:id="rId8"/>
    <p:sldId id="268" r:id="rId9"/>
    <p:sldId id="269" r:id="rId10"/>
    <p:sldId id="263" r:id="rId11"/>
    <p:sldId id="264" r:id="rId12"/>
    <p:sldId id="265" r:id="rId13"/>
    <p:sldId id="260" r:id="rId14"/>
    <p:sldId id="261" r:id="rId15"/>
    <p:sldId id="26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5" d="100"/>
          <a:sy n="125" d="100"/>
        </p:scale>
        <p:origin x="106" y="384"/>
      </p:cViewPr>
      <p:guideLst>
        <p:guide orient="horz" pos="2159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246.000 882.000,'0.000'0.000,"0.000"0.000,0.000 0.000,0.000 0.000,0.000 0.000,0.000 13.000,0.000 0.000,0.000 1.000,13.000 12.000,-13.000 1.000,0.000-1.000,0.000 14.000,0.000-1.000,0.000 14.000,0.000-26.000,0.000 13.000,13.000-14.000,-13.000 14.000,0.000 13.000,0.000 0.000,0.000 26.000,13.000-13.000,-13.000 14.000,0.000 12.000,13.000 1.000,-13.000-14.000,13.000 14.000,-1.000 13.000,1.000 39.000,-13.000 14.000,13.000-53.000,-13.000 0.000,13.000-1.000,-13.000-12.000,13.000 0.000,-13.000 13.000,13.000-1.000,-13.000-38.000,0.000 12.000,13.000 40.000,0.000 13.000,0.000-26.000,0.000-13.000,-1.000-1.000,14.000 14.000,-13.000 0.000,13.000 0.000,-13.000-13.000,13.000-1.000,-1.000 1.000,-12.000-14.000,13.000-13.000,-13.000 1.000,0.000-14.000,0.000-14.000,0.000-12.000,-13.000-1.000,13.000-13.000,-13.000 1.000,0.000-14.000,0.000 13.000,0.000-13.000,0.000 0.000,0.000 13.000,13.000-13.000,-13.000 13.000,0.000-13.000,0.000 0.000,12.000 14.000,-12.000-14.000,0.000 13.000,13.000 0.000,-13.000-13.000,0.000 0.000,13.000 13.000,-13.000 14.000,0.000-14.000,0.000 0.000,0.000 0.000,0.000 14.000,0.000-14.000,13.000 14.000,-13.000-14.000,0.000 0.000,0.000 0.000,0.000 0.000,-13.000 1.000,13.000-1.000,0.000 0.000,0.000-13.000,0.000 13.000,0.000-13.000,0.000 14.000,0.000-14.000,0.000 13.000,0.000-13.000,0.000 13.000,0.000-13.000,0.000 13.000,0.000 1.000,-13.000-14.000,13.000 13.000,0.000-13.000,0.000 0.000,-13.000 0.000,1.000 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911.000 855.000,'-13.000'0.000,"13.000"0.000,0.000 0.000,0.000 0.000,0.000 0.000,-13.000 0.000,13.000 13.000,0.000-13.000,0.000 0.000,-13.000 13.000,0.000 14.000,0.000-14.000,0.000 13.000,0.000 1.000,0.000-1.000,0.000 14.000,0.000-14.000,0.000 14.000,0.000-14.000,13.000 14.000,-13.000-1.000,0.000 1.000,0.000-1.000,0.000 1.000,0.000 26.000,0.000-13.000,13.000 0.000,-13.000 13.000,13.000-14.000,-13.000 1.000,13.000 13.000,0.000 13.000,-13.000 93.000,13.000 26.000,-13.000-53.000,13.000 0.000,0.000 0.000,0.000 14.000,-12.000-1.000,12.000-132.000,0.000 93.000,0.000 0.000,-13.000-14.000,13.000-12.000,0.000-1.000,0.000 1.000,0.000-1.000,-13.000-26.000,13.000 13.000,0.000 0.000,-13.000-13.000,13.000 13.000,-13.000 1.000,0.000-1.000,13.000 0.000,-13.000-13.000,13.000 13.000,-13.000 0.000,13.000 14.000,-13.000 12.000,13.000-12.000,0.000 12.000,-13.000-26.000,13.000 14.000,-13.000-14.000,13.000-13.000,0.000-27.000,-13.000 14.000,0.000-13.000,13.000-1.000,-13.000 1.000,0.000-1.000,13.000-12.000,-13.000-14.000,13.000 13.000,-13.000 1.000,13.000-14.000,-13.000 0.000,13.000 14.000,0.000-14.000,0.000 13.000,0.000-13.000,0.000 1.000,-13.000-1.000,13.000 0.000,0.000 0.000,0.000-13.000,0.000 13.000,-13.000-13.000,13.000 0.000,0.000 0.000,0.000 0.000,0.000 0.000,-13.000 0.000,13.000 0.000,0.000 14.000,0.000-14.000,0.000 0.000,-13.000 0.000,13.000 0.000,0.000 0.000,0.000 0.000,0.000 0.000,-13.000 0.000,13.000 0.000,0.000 13.000,0.000-13.000,0.000 0.000,-13.000 0.000,13.000 0.000,0.000 0.000,0.000 0.000,-13.000 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296.000 5614.000,'0.000'0.000,"0.000"0.000,0.000 0.000,0.000 0.000,13.000 0.000,-13.000-13.000,0.000 13.000,13.000 0.000,1.000 0.000,-1.000-13.000,0.000-1.000,0.000-12.000,-13.000 26.000,26.000-53.000,27.000 1.000,13.000-53.000,0.000-1.000,0.000 1.000,0.000 0.000,0.000-1.000,26.000-38.000,-13.000-14.000,0.000 26.000,13.000-39.000,27.000-39.000,-1.000-14.000,-39.000 79.000,0.000 1.000,-13.000 25.000,13.000-26.000,-13.000 14.000,-53.000 105.000,27.000-53.000,-1.000 0.000,27.000-40.000,0.000 1.000,-26.000 26.000,-1.000 13.000,-12.000 26.000,-1.000 1.000,0.000-1.000,1.000 0.000,-1.000 1.000,0.000 12.000,-12.000 1.000,-1.000 12.000,13.000-12.000,-13.000 13.000,0.000-1.000,1.000-12.000,-1.000 12.000,0.000 1.000,-13.000 0.000,13.000 13.000,-13.000-14.000,13.000 14.000,-13.000-13.000,13.000 0.000,1.000 12.000,-14.000 1.000,0.000-13.000,13.000 13.000,0.000-14.000,0.000 14.000,-13.000 0.000,27.000-26.000,-14.000 12.000,13.000 1.000,-13.000-13.000,14.000 12.000,-14.000-12.000,13.000-1.000,0.000 14.000,1.000-13.000,-14.000 12.000,13.000 1.000,-13.000 0.000,14.000-1.000,-1.000 1.000,14.000 0.000,-14.000-1.000,0.000 14.000,1.000-13.000,-1.000 13.000,14.000-14.000,-14.000 14.000,0.000 0.000,1.000-13.000,-14.000 13.000,13.000-1.000,1.000-12.000,-14.000 13.000,13.000 0.000,0.000-13.000,-12.000 12.000,12.000-12.000,0.000 13.000,-12.000-13.000,12.000 12.000,-13.000 1.000,13.000 0.000,-12.000 0.000,-1.000 0.000,66.000-53.000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b050"/>
    </inkml:brush>
  </inkml:definitions>
  <inkml:trace contextRef="#ctx0" brushRef="#br0">329.000 872.000,'0.000'0.000,"0.000"0.000,0.000 0.000,0.000 13.000,13.000-13.000,-13.000 13.000,13.000-13.000,-13.000 14.000,13.000-1.000,-13.000 13.000,14.000-13.000,-1.000 14.000,0.000 12.000,-13.000-12.000,26.000 12.000,-13.000-12.000,0.000 12.000,14.000 27.000,12.000 0.000,-13.000 0.000,14.000 0.000,-14.000 0.000,0.000-13.000,1.000-1.000,-1.000 1.000,0.000 0.000,-13.000 0.000,14.000-1.000,-1.000 14.000,-13.000 13.000,13.000-13.000,-13.000 14.000,14.000-14.000,-14.000-1.000,0.000 1.000,13.000-13.000,-13.000 13.000,0.000-13.000,14.000 26.000,-1.000-13.000,0.000 26.000,1.000-13.000,12.000 27.000,0.000-14.000,-12.000-13.000,12.000 14.000,0.000-14.000,1.000-13.000,-14.000 13.000,14.000-13.000,-14.000-13.000,0.000-1.000,0.000 1.000,14.000 0.000,-27.000-14.000,13.000 14.000,0.000-13.000,-12.000-1.000,-1.000-12.000,0.000-1.000,0.000 0.000,0.000 1.000,0.000-14.000,0.000 13.000,1.000 14.000,-1.000 0.000,0.000-14.000,-13.000 13.000,13.000-12.000,0.000 12.000,-13.000-12.000,13.000-1.000,-13.000 1.000,13.000-1.000,-13.000 0.000,13.000-13.000,-13.000 14.000,14.000 12.000,-1.000-12.000,-13.000-1.000,13.000-13.000,-13.000 14.000,13.000 12.000,0.000 1.000,13.000 13.000,-12.000-1.000,12.000-12.000,-13.000 13.000,13.000-14.000,1.000 14.000,-14.000-27.000,0.000 14.000,0.000-14.000,0.000 1.000,-13.000-14.000,13.000 13.000,0.000 1.000,-13.000-1.000,13.000-13.000,-13.000 0.000,0.000-13.000,14.000 14.000,-14.000-14.000,26.000 13.000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b050"/>
    </inkml:brush>
  </inkml:definitions>
  <inkml:trace contextRef="#ctx0" brushRef="#br0">434.000 872.000,'0.000'0.000,"0.000"0.000,0.000 0.000,0.000 0.000,0.000 0.000,0.000 0.000,13.000 0.000,-13.000 0.000,0.000 0.000,13.000 0.000,-13.000 0.000,0.000 13.000,14.000 0.000,-14.000 1.000,0.000-1.000,0.000 13.000,13.000 27.000,-13.000 0.000,0.000-14.000,0.000 27.000,13.000-13.000,-13.000 13.000,0.000 0.000,13.000 0.000,-13.000 52.000,14.000 1.000,-14.000 0.000,13.000-40.000,-13.000-13.000,13.000 79.000,0.000-14.000,-13.000-25.000,13.000-1.000,-13.000-12.000,14.000-14.000,-14.000 13.000,0.000 13.000,13.000 14.000,0.000-27.000,-13.000 1.000,0.000-1.000,13.000-39.000,-13.000-1.000,0.000 28.000,0.000-1.000,0.000-27.000,13.000 1.000,-13.000 0.000,0.000-27.000,0.000 1.000,0.000 12.000,0.000 1.000,0.000-14.000,0.000 27.000,0.000-14.000,0.000 14.000,0.000-13.000,0.000-27.000,0.000 13.000,0.000 14.000,0.000-14.000,0.000 0.000,0.000 1.000,0.000-1.000,0.000 1.000,0.000-1.000,0.000-26.000,0.000 40.000,0.000-14.000,0.000 13.000,0.000-12.000,0.000-1.000,0.000 1.000,0.000-1.000,0.000 0.000,0.000-13.000,0.000 14.000,0.000-1.000,0.000-13.000,0.000 14.000,0.000-14.000,14.000 0.000,-14.000 0.000,0.000 0.000,0.000-13.000,0.000 14.000,0.000-1.000,0.000 0.000,13.000 0.000,-13.000 0.000,0.000 14.000,0.000-27.000,13.000 13.000,-13.000 13.000,0.000-12.000,13.000 12.000,-13.000-13.000,0.000 0.000,0.000 0.000,0.000 1.000,0.000 12.000,0.000-13.000,0.000 0.000,14.000-13.000,-14.000 14.000,0.000-1.000,0.000 0.000,0.000-13.000,0.000 0.000,0.000 13.000,0.000-13.000,0.000 13.000,13.000-13.000,-13.000 13.000,0.000 14.000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b050"/>
    </inkml:brush>
  </inkml:definitions>
  <inkml:trace contextRef="#ctx0" brushRef="#br0">466.000 5261.000,'0.000'-13.000,"0.000"13.000,0.000 0.000,0.000 0.000,0.000-13.000,13.000 13.000,-13.000-14.000,0.000 14.000,13.000-13.000,-13.000 0.000,13.000 13.000,-13.000-13.000,0.000 0.000,14.000 0.000,-14.000-14.000,13.000 14.000,0.000-26.000,0.000 12.000,0.000-12.000,0.000-14.000,14.000 1.000,-1.000-14.000,0.000-13.000,-13.000 40.000,27.000-40.000,-14.000 0.000,14.000 0.000,-1.000 0.000,1.000 0.000,12.000-26.000,1.000 0.000,-14.000 26.000,1.000 13.000,-1.000-13.000,14.000 0.000,0.000-13.000,-1.000 26.000,-12.000 1.000,-1.000 12.000,1.000-13.000,-1.000 0.000,14.000-26.000,12.000-13.000,-25.000 26.000,13.000 0.000,-14.000 14.000,0.000-14.000,14.000 13.000,-13.000-13.000,12.000 0.000,-12.000 0.000,-14.000 40.000,0.000-1.000,1.000-12.000,-1.000 12.000,0.000 1.000,-13.000-1.000,1.000 14.000,-1.000 13.000,0.000-13.000,0.000-1.000,0.000 1.000,0.000 0.000,0.000-1.000,-13.000 1.000,14.000 13.000,-1.000-13.000,0.000 12.000,-13.000 1.000,13.000 0.000,0.000 0.000,-13.000 0.000,0.000 0.000,13.000 13.000,-13.000-13.000,0.000-1.000,0.000 1.000,14.000 0.000,-14.000 13.000,0.000-13.000,13.000 0.000,-13.000 0.000,13.000-14.000,0.000 1.000,-13.000 0.000,13.000-1.000,0.000 1.000,0.000 0.000,1.000-1.000,-1.000 1.000,0.000 0.000,13.000-14.000,-13.000 14.000,14.000-13.000,-14.000 12.000,0.000 14.000,0.000-13.000,-13.000 13.000,13.000-14.000,0.000 14.000,-13.000 0.000,14.000-13.000,-1.000 13.000,0.000-14.000,0.000 14.000,0.000-13.000,0.000 13.000,14.000-14.000,-14.000-12.000,13.000 13.000,-13.000-1.000,1.000 14.000,12.000-13.000,-13.000 0.000,0.000-1.000,0.000 1.000,0.000 13.000,1.000-13.000,-1.000-1.000,0.000 1.000,0.000 0.000,0.000-1.000,0.000 14.000,1.000 0.000,-14.000 0.000,13.000 0.000,-13.000 0.000,0.000-1.000,13.000 1.000,-13.000-13.000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70c0"/>
    </inkml:brush>
  </inkml:definitions>
  <inkml:trace contextRef="#ctx0" brushRef="#br0">254.000 880.000,'0.000'0.000,"0.000"0.000,0.000 0.000,0.000 0.000,13.000 0.000,-13.000 0.000,13.000 0.000,-13.000 0.000,14.000 0.000,-14.000 0.000,13.000 0.000,0.000 13.000,-13.000-13.000,13.000 13.000,0.000-13.000,-13.000 0.000,14.000 14.000,-1.000-14.000,0.000 13.000,0.000 0.000,14.000 14.000,-14.000-14.000,13.000 13.000,-13.000-13.000,14.000 27.000,-1.000-13.000,0.000-1.000,1.000 1.000,-1.000-1.000,14.000 14.000,-1.000 13.000,1.000-1.000,13.000 1.000,-14.000-13.000,14.000 13.000,0.000 13.000,-13.000-13.000,12.000 0.000,-25.000-27.000,-1.000 1.000,14.000 13.000,-14.000-1.000,0.000 1.000,14.000-14.000,13.000 40.000,0.000 1.000,-14.000-15.000,14.000-12.000,-13.000 13.000,-1.000-13.000,-12.000-1.000,-1.000-12.000,0.000-1.000,14.000 14.000,-14.000-14.000,1.000 14.000,12.000 0.000,1.000 0.000,13.000 12.000,-14.000 1.000,1.000-13.000,-14.000 0.000,14.000-14.000,-14.000 14.000,14.000-1.000,-14.000-12.000,1.000 13.000,-1.000-14.000,0.000 1.000,-12.000-14.000,25.000 26.000,1.000 1.000,-14.000-13.000,14.000 12.000,-14.000-12.000,1.000-1.000,-1.000-13.000,13.000 14.000,1.000 13.000,-14.000-27.000,1.000 13.000,12.000-13.000,-25.000 14.000,12.000-14.000,0.000 14.000,1.000-14.000,-14.000 0.000,13.000 0.000,-12.000-13.000,-1.000 13.000,0.000 1.000,0.000-1.000,14.000 0.000,-1.000 0.000,-13.000 1.000,0.000-1.000,1.000 0.000,12.000 0.000,0.000 1.000,-12.000-1.000,12.000 13.000,0.000-13.000,1.000 1.000,-1.000 12.000,0.000-13.000,-12.000 14.000,12.000-14.000,0.000 0.000,1.000 14.000,-1.000-14.000,-13.000 0.000,14.000 14.000,-1.000-14.000,1.000 0.000,-14.000 13.000,13.000-12.000,14.000 12.000,-27.000 1.000,13.000-14.000,1.000 13.000,-14.000-12.000,13.000 12.000,1.000 0.000,-1.000-12.000,1.000 12.000,-1.000 1.000,13.000-1.000,-12.000-13.000,-1.000 14.000,1.000-1.000,12.000 1.000,-12.000-1.000,-1.000 1.000,14.000-1.000,-1.000 14.000,1.000-14.000,-1.000 1.000,-12.000-1.000,-1.000 0.000,1.000 1.000,-14.000-14.000,0.000 0.000,0.000 1.000,14.000 12.000,-14.000-13.000,0.000 0.000,0.000 1.000,0.000-1.000,1.000 0.000,-1.000 0.000,0.000 1.000,0.000-1.000,13.000 0.000,-12.000 0.000,12.000 1.000,-13.000-1.000,14.000 0.000,-14.000 0.000,0.000 0.000,0.000 1.000,0.000-1.000,-13.000 0.000,14.000-13.000,-14.000 13.000,13.000-13.000,0.000 14.000,13.000-1.000,-12.000 0.000,12.000 13.000,0.000-12.000,1.000-1.000,-1.000 13.000,-13.000-12.000,14.000-1.000,-1.000 0.000,-13.000 0.000,14.000 1.000,-14.000-1.000,0.000-13.000,0.000 13.000,14.000 0.000,-14.000-13.000,0.000 13.000,14.000-13.000,-14.000 14.000,0.000-1.000,13.000 0.000,14.000 0.000,13.000 1.000,-14.000 12.000,27.000-13.000,-39.000 14.000,25.000-14.000,1.000 13.000,0.000 1.000,0.000-14.000,-14.000 0.000,-12.000 14.000,12.000-14.000,-12.000 0.000,-1.000-13.000,0.000 13.000,-12.000-13.000,-14.000 0.000,13.000 0.000,-13.000 0.000,0.000 0.000,0.000 0.000,0.000 0.000,0.000 0.000,13.000 14.000,-13.000-14.000,13.000 0.000,-13.000 0.000,13.000 13.000,1.000-13.000,-1.000 0.000,0.000 13.000,0.000-13.000,0.000 0.000,-13.000 13.000,14.000-13.000,-14.000 0.000,13.000 0.000,-13.000 0.000,13.000 14.000,-13.000-14.000,53.000 13.000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70c0"/>
    </inkml:brush>
  </inkml:definitions>
  <inkml:trace contextRef="#ctx0" brushRef="#br0">680.000 5198.000,'0.000'-13.000,"0.000"13.000,0.000 0.000,0.000 0.000,0.000 0.000,0.000 0.000,0.000 0.000,0.000-13.000,0.000 13.000,0.000 0.000,0.000 0.000,0.000-14.000,0.000 14.000,0.000 0.000,0.000 0.000,0.000-13.000,0.000 13.000,0.000 0.000,0.000 0.000,0.000-13.000,0.000 13.000,13.000-13.000,-13.000 0.000,0.000-14.000,0.000 14.000,0.000-13.000,13.000 0.000,-13.000-1.000,14.000-25.000,-14.000 12.000,13.000-12.000,0.000 12.000,-13.000-25.000,13.000 12.000,1.000-13.000,-14.000 14.000,13.000-1.000,-13.000 0.000,13.000 1.000,-13.000-14.000,13.000 13.000,1.000 1.000,-14.000 12.000,0.000 1.000,13.000-14.000,0.000 14.000,-13.000-1.000,13.000-12.000,0.000 12.000,-13.000 14.000,14.000-13.000,-14.000-1.000,13.000 14.000,-13.000-1.000,13.000 1.000,0.000 0.000,-13.000 13.000,0.000-14.000,14.000 14.000,-14.000-13.000,13.000 0.000,-13.000-1.000,0.000 1.000,13.000 0.000,-13.000 13.000,0.000-14.000,0.000 1.000,13.000-13.000,-13.000 25.000,0.000 1.000,14.000-26.000,-14.000-1.000,13.000 14.000,-13.000-13.000,13.000-1.000,-13.000 14.000,13.000 13.000,-13.000-14.000,0.000 1.000,13.000 0.000,-13.000-14.000,14.000 14.000,-14.000 0.000,13.000-1.000,-13.000 14.000,0.000-13.000,0.000-14.000,13.000 1.000,0.000 0.000,-13.000 12.000,14.000-12.000,-14.000 26.000,13.000-14.000,-13.000 1.000,0.000 13.000,13.000-13.000,-13.000-14.000,13.000 1.000,1.000 12.000,-14.000 1.000,13.000-13.000,0.000-1.000,-13.000 27.000,13.000-26.000,-13.000 12.000,13.000-12.000,1.000-1.000,-1.000 1.000,0.000-1.000,-13.000 14.000,13.000-13.000,1.000 12.000,-1.000 1.000,-13.000 0.000,13.000 13.000,-13.000-1.000,0.000-12.000,13.000 13.000,-13.000-13.000,0.000 26.000,13.000-27.000,1.000 1.000,-14.000 0.000,13.000 0.000,-13.000-1.000,13.000-12.000,0.000 12.000,1.000 1.000,-14.000 0.000,13.000 0.000,-13.000 12.000,13.000-12.000,-13.000 13.000,13.000 0.000,-13.000-14.000,14.000 14.000,-14.000-13.000,13.000 13.000,-13.000 0.000,0.000 0.000,13.000-1.000,-13.000-12.000,0.000 13.000,13.000 0.000,-13.000 0.000,0.000 0.000,0.000-1.000,13.000 1.000,-13.000-13.000,0.000 13.000,14.000-14.000,-14.000 14.000,0.000 0.000,13.000-13.000,-13.000 13.000,0.000 0.000,0.000 13.000,0.000-14.000,13.000 14.000,-13.000-13.000,0.000 0.000,0.000 13.000,0.000 0.000,0.000-13.000,0.000 13.000,13.000-13.000,-13.000 13.000,0.000 0.000,0.000-13.000,0.000-1.000,0.000 14.000,0.000-13.000,14.000 0.000,-14.000 0.000,0.000 0.000,0.000 0.000,13.000-14.000,-13.000 14.000,0.000 0.000,13.000 0.000,-13.000-13.000,0.000 13.000,0.000-1.000,13.000 1.000,-13.000 0.000,0.000 13.000,0.000-13.000,0.000 13.000,0.000-13.000,0.000 13.000,0.000 0.000,0.000 0.000,0.000 0.000,0.000 0.000,0.000 0.000,0.000-13.000,0.000 13.000,0.000 0.000,14.000-14.000,-14.000 14.000,0.000 0.000,0.000-13.000,0.000 13.000,13.000-13.000,-13.000 13.000,0.000 0.000,0.000 0.000,0.000 0.000,0.000 0.000,0.000-13.000,0.000 13.000,0.000 0.000,0.000 0.000,0.000 0.000,0.000 0.000,0.000 0.000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customXml" Target="../ink/ink3.xml"/><Relationship Id="rId7" Type="http://schemas.openxmlformats.org/officeDocument/2006/relationships/image" Target="../media/image5.png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Relationship Id="rId3" Type="http://schemas.openxmlformats.org/officeDocument/2006/relationships/image" Target="../media/image3.png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image" Target="../media/image11.png"/><Relationship Id="rId18" Type="http://schemas.openxmlformats.org/officeDocument/2006/relationships/customXml" Target="../ink/ink8.xml"/><Relationship Id="rId17" Type="http://schemas.openxmlformats.org/officeDocument/2006/relationships/image" Target="../media/image10.png"/><Relationship Id="rId16" Type="http://schemas.openxmlformats.org/officeDocument/2006/relationships/customXml" Target="../ink/ink7.xml"/><Relationship Id="rId15" Type="http://schemas.openxmlformats.org/officeDocument/2006/relationships/image" Target="../media/image9.png"/><Relationship Id="rId14" Type="http://schemas.openxmlformats.org/officeDocument/2006/relationships/customXml" Target="../ink/ink6.xml"/><Relationship Id="rId13" Type="http://schemas.openxmlformats.org/officeDocument/2006/relationships/image" Target="../media/image8.png"/><Relationship Id="rId12" Type="http://schemas.openxmlformats.org/officeDocument/2006/relationships/customXml" Target="../ink/ink5.xml"/><Relationship Id="rId11" Type="http://schemas.openxmlformats.org/officeDocument/2006/relationships/image" Target="../media/image7.png"/><Relationship Id="rId10" Type="http://schemas.openxmlformats.org/officeDocument/2006/relationships/customXml" Target="../ink/ink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9925" y="801370"/>
            <a:ext cx="3201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LDPC</a:t>
            </a:r>
            <a:r>
              <a:rPr lang="zh-CN" altLang="en-US"/>
              <a:t>编码（属于前向纠错码）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55215" y="1654810"/>
            <a:ext cx="1894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稀疏矩阵</a:t>
            </a:r>
            <a:r>
              <a:rPr lang="en-US" altLang="zh-CN"/>
              <a:t> H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96290" y="2508250"/>
            <a:ext cx="380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传输数据时加少量校验位，接受信号校验后，降低误码率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7467536" y="3596894"/>
                <a:ext cx="1797050" cy="3606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𝑚𝑜𝑑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536" y="3596894"/>
                <a:ext cx="1797050" cy="360680"/>
              </a:xfrm>
              <a:prstGeom prst="rect">
                <a:avLst/>
              </a:prstGeom>
              <a:blipFill rotWithShape="1">
                <a:blip r:embed="rId1"/>
                <a:stretch>
                  <a:fillRect l="-32" t="-70" r="32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6428740" y="1865630"/>
            <a:ext cx="2554605" cy="819150"/>
            <a:chOff x="11817" y="2938"/>
            <a:chExt cx="4023" cy="129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12497" y="2938"/>
                  <a:ext cx="1625" cy="129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US" altLang="zh-CN"/>
                </a:p>
              </p:txBody>
            </p:sp>
          </mc:Choice>
          <mc:Fallback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97" y="2938"/>
                  <a:ext cx="1625" cy="129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14122" y="2938"/>
                  <a:ext cx="1719" cy="129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</m:m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22" y="2938"/>
                  <a:ext cx="1719" cy="129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11817" y="3293"/>
              <a:ext cx="11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H=</a:t>
              </a:r>
              <a:endParaRPr lang="en-US" altLang="zh-CN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758305" y="1467485"/>
            <a:ext cx="3651885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6</a:t>
            </a:r>
            <a:r>
              <a:rPr lang="zh-CN" altLang="en-US"/>
              <a:t>位码比特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位信息位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位校验位）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983980" y="2023110"/>
            <a:ext cx="151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</a:t>
            </a:r>
            <a:r>
              <a:rPr lang="zh-CN" altLang="en-US"/>
              <a:t>个校验方程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48245" y="2879725"/>
            <a:ext cx="3844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信息位：从传入的比特流中读三位</a:t>
            </a:r>
            <a:endParaRPr lang="zh-CN" altLang="en-US"/>
          </a:p>
        </p:txBody>
      </p:sp>
      <p:cxnSp>
        <p:nvCxnSpPr>
          <p:cNvPr id="18" name="直接箭头连接符 17"/>
          <p:cNvCxnSpPr>
            <a:stCxn id="17" idx="2"/>
            <a:endCxn id="19" idx="0"/>
          </p:cNvCxnSpPr>
          <p:nvPr/>
        </p:nvCxnSpPr>
        <p:spPr>
          <a:xfrm flipH="1">
            <a:off x="9467215" y="3248025"/>
            <a:ext cx="3810" cy="1057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682230" y="4305935"/>
            <a:ext cx="35699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2" indent="457200"/>
            <a:r>
              <a:rPr lang="zh-CN" altLang="en-US"/>
              <a:t>校验位</a:t>
            </a:r>
            <a:endParaRPr lang="zh-CN" altLang="en-US"/>
          </a:p>
          <a:p>
            <a:pPr marL="914400" lvl="2" indent="457200"/>
            <a:endParaRPr lang="zh-CN" altLang="en-US"/>
          </a:p>
          <a:p>
            <a:pPr marL="457200" lvl="1" indent="457200"/>
            <a:r>
              <a:rPr lang="zh-CN" altLang="en-US"/>
              <a:t>码字</a:t>
            </a:r>
            <a:r>
              <a:rPr lang="en-US" altLang="zh-CN"/>
              <a:t>=</a:t>
            </a:r>
            <a:r>
              <a:rPr lang="zh-CN" altLang="en-US"/>
              <a:t>信息位</a:t>
            </a:r>
            <a:r>
              <a:rPr lang="en-US" altLang="zh-CN"/>
              <a:t>+</a:t>
            </a:r>
            <a:r>
              <a:rPr lang="zh-CN" altLang="en-US"/>
              <a:t>校验位</a:t>
            </a:r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4980940" y="4071620"/>
            <a:ext cx="2965450" cy="2212340"/>
            <a:chOff x="1423" y="5959"/>
            <a:chExt cx="4670" cy="3484"/>
          </a:xfrm>
        </p:grpSpPr>
        <p:sp>
          <p:nvSpPr>
            <p:cNvPr id="20" name="文本框 19"/>
            <p:cNvSpPr txBox="1"/>
            <p:nvPr/>
          </p:nvSpPr>
          <p:spPr>
            <a:xfrm>
              <a:off x="1423" y="5959"/>
              <a:ext cx="70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v1</a:t>
              </a:r>
              <a:endParaRPr lang="en-US" altLang="zh-CN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794" y="8797"/>
              <a:ext cx="71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c1</a:t>
              </a:r>
              <a:endParaRPr lang="en-US" altLang="zh-CN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143" y="5959"/>
              <a:ext cx="78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v2</a:t>
              </a:r>
              <a:endParaRPr lang="en-US" altLang="zh-CN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270" y="8863"/>
              <a:ext cx="7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c2</a:t>
              </a:r>
              <a:endParaRPr lang="en-US" altLang="zh-CN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902" y="5959"/>
              <a:ext cx="6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v3</a:t>
              </a:r>
              <a:endParaRPr lang="en-US" altLang="zh-CN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709" y="5959"/>
              <a:ext cx="71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v4</a:t>
              </a:r>
              <a:endParaRPr lang="en-US" altLang="zh-CN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434" y="5959"/>
              <a:ext cx="6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v5</a:t>
              </a:r>
              <a:endParaRPr lang="en-US" altLang="zh-CN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780" y="8797"/>
              <a:ext cx="6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c3</a:t>
              </a:r>
              <a:endParaRPr lang="en-US" altLang="zh-CN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229" y="5959"/>
              <a:ext cx="8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v6</a:t>
              </a:r>
              <a:endParaRPr lang="en-US" altLang="zh-CN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4" p14:bwMode="auto">
              <p14:nvContentPartPr>
                <p14:cNvPr id="38" name="墨迹 37"/>
                <p14:cNvContentPartPr/>
                <p14:nvPr/>
              </p14:nvContentPartPr>
              <p14:xfrm>
                <a:off x="1845" y="6615"/>
                <a:ext cx="292" cy="2430"/>
              </p14:xfrm>
            </p:contentPart>
          </mc:Choice>
          <mc:Fallback xmlns="">
            <p:pic>
              <p:nvPicPr>
                <p:cNvPr id="38" name="墨迹 37"/>
              </p:nvPicPr>
              <p:blipFill>
                <a:blip r:embed="rId5"/>
              </p:blipFill>
              <p:spPr>
                <a:xfrm>
                  <a:off x="1845" y="6615"/>
                  <a:ext cx="292" cy="243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6" p14:bwMode="auto">
              <p14:nvContentPartPr>
                <p14:cNvPr id="39" name="墨迹 38"/>
                <p14:cNvContentPartPr/>
                <p14:nvPr/>
              </p14:nvContentPartPr>
              <p14:xfrm>
                <a:off x="2257" y="6412"/>
                <a:ext cx="353" cy="2790"/>
              </p14:xfrm>
            </p:contentPart>
          </mc:Choice>
          <mc:Fallback xmlns="">
            <p:pic>
              <p:nvPicPr>
                <p:cNvPr id="39" name="墨迹 38"/>
              </p:nvPicPr>
              <p:blipFill>
                <a:blip r:embed="rId7"/>
              </p:blipFill>
              <p:spPr>
                <a:xfrm>
                  <a:off x="2257" y="6412"/>
                  <a:ext cx="353" cy="279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8" p14:bwMode="auto">
              <p14:nvContentPartPr>
                <p14:cNvPr id="40" name="墨迹 39"/>
                <p14:cNvContentPartPr/>
                <p14:nvPr/>
              </p14:nvContentPartPr>
              <p14:xfrm>
                <a:off x="2220" y="6487"/>
                <a:ext cx="1740" cy="2700"/>
              </p14:xfrm>
            </p:contentPart>
          </mc:Choice>
          <mc:Fallback xmlns="">
            <p:pic>
              <p:nvPicPr>
                <p:cNvPr id="40" name="墨迹 39"/>
              </p:nvPicPr>
              <p:blipFill>
                <a:blip r:embed="rId9"/>
              </p:blipFill>
              <p:spPr>
                <a:xfrm>
                  <a:off x="2220" y="6487"/>
                  <a:ext cx="1740" cy="27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0" p14:bwMode="auto">
              <p14:nvContentPartPr>
                <p14:cNvPr id="41" name="墨迹 40"/>
                <p14:cNvContentPartPr/>
                <p14:nvPr/>
              </p14:nvContentPartPr>
              <p14:xfrm>
                <a:off x="2467" y="6540"/>
                <a:ext cx="983" cy="2415"/>
              </p14:xfrm>
            </p:contentPart>
          </mc:Choice>
          <mc:Fallback xmlns="">
            <p:pic>
              <p:nvPicPr>
                <p:cNvPr id="41" name="墨迹 40"/>
              </p:nvPicPr>
              <p:blipFill>
                <a:blip r:embed="rId11"/>
              </p:blipFill>
              <p:spPr>
                <a:xfrm>
                  <a:off x="2467" y="6540"/>
                  <a:ext cx="983" cy="2415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2" p14:bwMode="auto">
              <p14:nvContentPartPr>
                <p14:cNvPr id="42" name="墨迹 41"/>
                <p14:cNvContentPartPr/>
                <p14:nvPr/>
              </p14:nvContentPartPr>
              <p14:xfrm>
                <a:off x="3255" y="6540"/>
                <a:ext cx="172" cy="2317"/>
              </p14:xfrm>
            </p:contentPart>
          </mc:Choice>
          <mc:Fallback xmlns="">
            <p:pic>
              <p:nvPicPr>
                <p:cNvPr id="42" name="墨迹 41"/>
              </p:nvPicPr>
              <p:blipFill>
                <a:blip r:embed="rId13"/>
              </p:blipFill>
              <p:spPr>
                <a:xfrm>
                  <a:off x="3255" y="6540"/>
                  <a:ext cx="172" cy="2317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4" p14:bwMode="auto">
              <p14:nvContentPartPr>
                <p14:cNvPr id="43" name="墨迹 42"/>
                <p14:cNvContentPartPr/>
                <p14:nvPr/>
              </p14:nvContentPartPr>
              <p14:xfrm>
                <a:off x="3495" y="6420"/>
                <a:ext cx="1342" cy="2505"/>
              </p14:xfrm>
            </p:contentPart>
          </mc:Choice>
          <mc:Fallback xmlns="">
            <p:pic>
              <p:nvPicPr>
                <p:cNvPr id="43" name="墨迹 42"/>
              </p:nvPicPr>
              <p:blipFill>
                <a:blip r:embed="rId15"/>
              </p:blipFill>
              <p:spPr>
                <a:xfrm>
                  <a:off x="3495" y="6420"/>
                  <a:ext cx="1342" cy="2505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6" p14:bwMode="auto">
              <p14:nvContentPartPr>
                <p14:cNvPr id="44" name="墨迹 43"/>
                <p14:cNvContentPartPr/>
                <p14:nvPr/>
              </p14:nvContentPartPr>
              <p14:xfrm>
                <a:off x="1905" y="6600"/>
                <a:ext cx="3022" cy="2482"/>
              </p14:xfrm>
            </p:contentPart>
          </mc:Choice>
          <mc:Fallback xmlns="">
            <p:pic>
              <p:nvPicPr>
                <p:cNvPr id="44" name="墨迹 43"/>
              </p:nvPicPr>
              <p:blipFill>
                <a:blip r:embed="rId17"/>
              </p:blipFill>
              <p:spPr>
                <a:xfrm>
                  <a:off x="1905" y="6600"/>
                  <a:ext cx="3022" cy="2482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8" p14:bwMode="auto">
              <p14:nvContentPartPr>
                <p14:cNvPr id="45" name="墨迹 44"/>
                <p14:cNvContentPartPr/>
                <p14:nvPr/>
              </p14:nvContentPartPr>
              <p14:xfrm>
                <a:off x="5100" y="6540"/>
                <a:ext cx="555" cy="2460"/>
              </p14:xfrm>
            </p:contentPart>
          </mc:Choice>
          <mc:Fallback xmlns="">
            <p:pic>
              <p:nvPicPr>
                <p:cNvPr id="45" name="墨迹 44"/>
              </p:nvPicPr>
              <p:blipFill>
                <a:blip r:embed="rId19"/>
              </p:blipFill>
              <p:spPr>
                <a:xfrm>
                  <a:off x="5100" y="6540"/>
                  <a:ext cx="555" cy="2460"/>
                </a:xfrm>
                <a:prstGeom prst="rect"/>
              </p:spPr>
            </p:pic>
          </mc:Fallback>
        </mc:AlternateContent>
      </p:grpSp>
      <p:sp>
        <p:nvSpPr>
          <p:cNvPr id="4" name="文本框 3"/>
          <p:cNvSpPr txBox="1"/>
          <p:nvPr/>
        </p:nvSpPr>
        <p:spPr>
          <a:xfrm>
            <a:off x="8559165" y="5409565"/>
            <a:ext cx="23634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接收端接受信号</a:t>
            </a:r>
            <a:r>
              <a:rPr lang="zh-CN" altLang="en-US"/>
              <a:t>译码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（硬译码</a:t>
            </a:r>
            <a:r>
              <a:rPr lang="en-US" altLang="zh-CN"/>
              <a:t>/</a:t>
            </a:r>
            <a:r>
              <a:rPr lang="zh-CN" altLang="en-US"/>
              <a:t>软译码）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8450" y="671195"/>
            <a:ext cx="954341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水下散射和吸收</a:t>
            </a:r>
            <a:endParaRPr lang="zh-CN" altLang="en-US" dirty="0"/>
          </a:p>
          <a:p>
            <a:endParaRPr lang="zh-CN" altLang="en-US" dirty="0"/>
          </a:p>
          <a:p>
            <a:pPr indent="457200"/>
            <a:r>
              <a:rPr lang="zh-CN" altLang="en-US" dirty="0"/>
              <a:t>海水，海水中的悬浮颗粒、浮游生物和其他杂质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海洋环境的高动态性</a:t>
            </a:r>
            <a:endParaRPr lang="zh-CN" altLang="en-US" dirty="0"/>
          </a:p>
          <a:p>
            <a:endParaRPr lang="zh-CN" altLang="en-US" dirty="0"/>
          </a:p>
          <a:p>
            <a:pPr indent="457200"/>
            <a:r>
              <a:rPr lang="zh-CN" altLang="en-US" dirty="0"/>
              <a:t>海水的温度、盐度、密度和流速，海水的浑浊度变化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3.</a:t>
            </a:r>
            <a:r>
              <a:rPr lang="zh-CN" altLang="en-US" dirty="0"/>
              <a:t>水下平台的动态失稳</a:t>
            </a:r>
            <a:endParaRPr lang="zh-CN" altLang="en-US" dirty="0"/>
          </a:p>
          <a:p>
            <a:endParaRPr lang="zh-CN" altLang="en-US" dirty="0"/>
          </a:p>
          <a:p>
            <a:pPr indent="457200"/>
            <a:r>
              <a:rPr lang="zh-CN" altLang="en-US" dirty="0">
                <a:sym typeface="+mn-ea"/>
              </a:rPr>
              <a:t>潜水器、浮标、水下传感器节点等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背景光噪声影响</a:t>
            </a:r>
            <a:endParaRPr lang="zh-CN" altLang="en-US" dirty="0"/>
          </a:p>
          <a:p>
            <a:endParaRPr lang="zh-CN" altLang="en-US" dirty="0"/>
          </a:p>
          <a:p>
            <a:pPr indent="457200"/>
            <a:r>
              <a:rPr lang="zh-CN" altLang="en-US" dirty="0"/>
              <a:t>自然光源（如太阳光）和人造光源（如探照灯、水下照明设备等）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027545" y="590550"/>
            <a:ext cx="4117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信息传输被散射、发射机光功率受限（</a:t>
            </a:r>
            <a:r>
              <a:rPr lang="en-US" altLang="zh-CN"/>
              <a:t>LDPC-PS-64QAM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27545" y="2251075"/>
            <a:ext cx="28670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噪音的影响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PPM</a:t>
            </a:r>
            <a:r>
              <a:rPr lang="zh-CN" altLang="en-US"/>
              <a:t>与强度双重调制）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23088" y="5193792"/>
            <a:ext cx="957148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5.</a:t>
            </a:r>
            <a:r>
              <a:rPr lang="zh-CN" altLang="en-US" dirty="0"/>
              <a:t>多途扩展，幅度起伏，</a:t>
            </a:r>
            <a:r>
              <a:rPr lang="zh-CN" altLang="en-US" dirty="0"/>
              <a:t>频率选择性衰弱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6</a:t>
            </a:r>
            <a:r>
              <a:rPr lang="zh-CN" altLang="en-US" dirty="0"/>
              <a:t>多普勒频移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840224" y="5504688"/>
            <a:ext cx="2871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选择铅直信道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24305" y="897890"/>
            <a:ext cx="2465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一般</a:t>
            </a:r>
            <a:r>
              <a:rPr lang="en-US" altLang="zh-CN"/>
              <a:t>LDPC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998470" y="897890"/>
            <a:ext cx="3312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采用</a:t>
            </a:r>
            <a:r>
              <a:rPr lang="en-US" altLang="zh-CN"/>
              <a:t>QC-LDPC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416810" y="1266190"/>
            <a:ext cx="8280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硬件不友好</a:t>
            </a:r>
            <a:endParaRPr lang="zh-CN" altLang="en-US"/>
          </a:p>
        </p:txBody>
      </p:sp>
      <p:cxnSp>
        <p:nvCxnSpPr>
          <p:cNvPr id="7" name="直接箭头连接符 6"/>
          <p:cNvCxnSpPr>
            <a:endCxn id="5" idx="1"/>
          </p:cNvCxnSpPr>
          <p:nvPr/>
        </p:nvCxnSpPr>
        <p:spPr>
          <a:xfrm flipV="1">
            <a:off x="2515235" y="1082040"/>
            <a:ext cx="48323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4638675" y="1069340"/>
            <a:ext cx="48323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79620" y="1266190"/>
            <a:ext cx="855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易形成短链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389245" y="897890"/>
            <a:ext cx="3780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方案</a:t>
            </a:r>
            <a:r>
              <a:rPr lang="zh-CN" altLang="en-US"/>
              <a:t>一：基于</a:t>
            </a:r>
            <a:r>
              <a:rPr lang="en-US" altLang="zh-CN"/>
              <a:t>Stanley</a:t>
            </a:r>
            <a:r>
              <a:rPr lang="zh-CN" altLang="en-US"/>
              <a:t>序列与遗传算法的短码长</a:t>
            </a:r>
            <a:r>
              <a:rPr lang="en-US" altLang="zh-CN"/>
              <a:t>QC-LDPC</a:t>
            </a:r>
            <a:r>
              <a:rPr lang="zh-CN" altLang="en-US"/>
              <a:t>码构造方法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871345" y="3033395"/>
            <a:ext cx="22821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LDPC</a:t>
            </a:r>
            <a:r>
              <a:rPr lang="zh-CN" altLang="en-US"/>
              <a:t>和</a:t>
            </a:r>
            <a:r>
              <a:rPr lang="en-US" altLang="zh-CN"/>
              <a:t>QC-LDPC</a:t>
            </a:r>
            <a:r>
              <a:rPr lang="zh-CN" altLang="en-US"/>
              <a:t>区别在于矩阵的形式</a:t>
            </a:r>
            <a:endParaRPr lang="zh-CN" altLang="en-US"/>
          </a:p>
          <a:p>
            <a:r>
              <a:rPr lang="zh-CN" altLang="en-US"/>
              <a:t>稀疏</a:t>
            </a:r>
            <a:r>
              <a:rPr lang="en-US" altLang="zh-CN"/>
              <a:t> VS </a:t>
            </a: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t="5899"/>
          <a:stretch>
            <a:fillRect/>
          </a:stretch>
        </p:blipFill>
        <p:spPr>
          <a:xfrm>
            <a:off x="2832735" y="3721100"/>
            <a:ext cx="3644900" cy="12966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22985" y="385445"/>
            <a:ext cx="2157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5.LDPC</a:t>
            </a:r>
            <a:r>
              <a:rPr lang="zh-CN" altLang="en-US"/>
              <a:t>矩阵形式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35600" y="1739265"/>
            <a:ext cx="3636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方案二：</a:t>
            </a:r>
            <a:r>
              <a:rPr lang="en-US" altLang="zh-CN"/>
              <a:t>Dayan </a:t>
            </a:r>
            <a:r>
              <a:rPr lang="zh-CN" altLang="en-US"/>
              <a:t>序列构造</a:t>
            </a:r>
            <a:r>
              <a:rPr lang="en-US" altLang="zh-CN"/>
              <a:t> QC-LDPC </a:t>
            </a:r>
            <a:r>
              <a:rPr lang="zh-CN" altLang="en-US"/>
              <a:t>校验矩阵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44930" y="927100"/>
            <a:ext cx="45046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6. </a:t>
            </a:r>
            <a:r>
              <a:rPr lang="zh-CN" altLang="en-US"/>
              <a:t>译码</a:t>
            </a:r>
            <a:r>
              <a:rPr lang="en-US" altLang="zh-CN"/>
              <a:t>LLR</a:t>
            </a:r>
            <a:r>
              <a:rPr lang="zh-CN" altLang="en-US"/>
              <a:t>软信息的计算繁琐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在低阶</a:t>
            </a:r>
            <a:r>
              <a:rPr lang="en-US" altLang="zh-CN"/>
              <a:t>PPM</a:t>
            </a:r>
            <a:r>
              <a:rPr lang="zh-CN" altLang="en-US"/>
              <a:t>时，简化用某一时隙内的功率代替该时隙的似然比来近似计算后验概率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22275" y="332105"/>
            <a:ext cx="3073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54990" y="941705"/>
            <a:ext cx="43402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LDPC</a:t>
            </a:r>
            <a:r>
              <a:rPr lang="zh-CN" altLang="en-US"/>
              <a:t>码代替</a:t>
            </a:r>
            <a:r>
              <a:rPr lang="en-US" altLang="zh-CN"/>
              <a:t>RS</a:t>
            </a:r>
            <a:r>
              <a:rPr lang="zh-CN" altLang="en-US"/>
              <a:t>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后验</a:t>
            </a:r>
            <a:r>
              <a:rPr lang="zh-CN" altLang="en-US"/>
              <a:t>概率可使用某一时隙内接收到的功率除以１帧</a:t>
            </a:r>
            <a:r>
              <a:rPr lang="en-US" altLang="zh-CN"/>
              <a:t> PPM </a:t>
            </a:r>
            <a:r>
              <a:rPr lang="zh-CN" altLang="en-US"/>
              <a:t>信号的总功率</a:t>
            </a:r>
            <a:endParaRPr lang="zh-CN" altLang="en-US"/>
          </a:p>
        </p:txBody>
      </p:sp>
      <p:pic>
        <p:nvPicPr>
          <p:cNvPr id="6" name="图片 5" descr="屏幕截图 2026-07-31 1712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3264535"/>
            <a:ext cx="2819400" cy="11239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13450" y="941705"/>
            <a:ext cx="5222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RS</a:t>
            </a:r>
            <a:r>
              <a:rPr lang="zh-CN" altLang="en-US"/>
              <a:t>码在信道条件变差时性能也会变差</a:t>
            </a:r>
            <a:r>
              <a:rPr lang="en-US" altLang="zh-CN"/>
              <a:t>,</a:t>
            </a:r>
            <a:r>
              <a:rPr lang="zh-CN" altLang="en-US"/>
              <a:t>对信道输出软信息利用率较低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013450" y="2524125"/>
            <a:ext cx="3665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需要知道的水下信道信息，计算公式比较</a:t>
            </a:r>
            <a:r>
              <a:rPr lang="zh-CN" altLang="en-US"/>
              <a:t>繁琐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48640" y="4151630"/>
            <a:ext cx="1109472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优点：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简化后的方法</a:t>
            </a:r>
            <a:r>
              <a:rPr lang="en-US" altLang="zh-CN"/>
              <a:t>,</a:t>
            </a:r>
            <a:r>
              <a:rPr lang="zh-CN" altLang="en-US"/>
              <a:t>计算量较少</a:t>
            </a:r>
            <a:r>
              <a:rPr lang="en-US" altLang="zh-CN"/>
              <a:t>,</a:t>
            </a:r>
            <a:r>
              <a:rPr lang="zh-CN" altLang="en-US"/>
              <a:t>且对于硬件实现较为有利</a:t>
            </a:r>
            <a:r>
              <a:rPr lang="en-US" altLang="zh-CN"/>
              <a:t>,</a:t>
            </a:r>
            <a:r>
              <a:rPr lang="zh-CN" altLang="en-US"/>
              <a:t>在对信噪比要求不高的情况下</a:t>
            </a:r>
            <a:r>
              <a:rPr lang="en-US" altLang="zh-CN"/>
              <a:t>,</a:t>
            </a:r>
            <a:r>
              <a:rPr lang="zh-CN" altLang="en-US"/>
              <a:t>是一种不错的选择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/>
              <a:t>另外</a:t>
            </a:r>
            <a:r>
              <a:rPr lang="en-US" altLang="zh-CN"/>
              <a:t>,</a:t>
            </a:r>
            <a:r>
              <a:rPr lang="zh-CN" altLang="en-US"/>
              <a:t>简化后提取软信息的方法不需要知道信道的具体特性</a:t>
            </a:r>
            <a:r>
              <a:rPr lang="en-US" altLang="zh-CN"/>
              <a:t>,</a:t>
            </a:r>
            <a:r>
              <a:rPr lang="zh-CN" altLang="en-US"/>
              <a:t>适用性广</a:t>
            </a:r>
            <a:r>
              <a:rPr lang="en-US" altLang="zh-CN"/>
              <a:t>,</a:t>
            </a:r>
            <a:r>
              <a:rPr lang="zh-CN" altLang="en-US"/>
              <a:t>对于信道特征极为复杂的水下光通信依然有效</a:t>
            </a:r>
            <a:r>
              <a:rPr lang="en-US" altLang="zh-CN"/>
              <a:t>,</a:t>
            </a:r>
            <a:r>
              <a:rPr lang="zh-CN" altLang="en-US"/>
              <a:t>且能获得较好的编码增益</a:t>
            </a:r>
            <a:r>
              <a:rPr lang="en-US" altLang="zh-CN"/>
              <a:t>.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缺点：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但是对于高阶</a:t>
            </a:r>
            <a:r>
              <a:rPr lang="en-US" altLang="zh-CN"/>
              <a:t> PPM </a:t>
            </a:r>
            <a:r>
              <a:rPr lang="zh-CN" altLang="en-US"/>
              <a:t>调制而言</a:t>
            </a:r>
            <a:r>
              <a:rPr lang="en-US" altLang="zh-CN"/>
              <a:t>,</a:t>
            </a:r>
            <a:r>
              <a:rPr lang="zh-CN" altLang="en-US"/>
              <a:t>编码增益损失略大</a:t>
            </a:r>
            <a:r>
              <a:rPr lang="en-US" altLang="zh-CN"/>
              <a:t>,</a:t>
            </a:r>
            <a:r>
              <a:rPr lang="zh-CN" altLang="en-US"/>
              <a:t>此时以牺牲系统的信噪比来换取系统的简化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33400" y="487680"/>
            <a:ext cx="2080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828675" y="1155700"/>
            <a:ext cx="8529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场景：</a:t>
            </a:r>
            <a:r>
              <a:rPr lang="en-US" altLang="zh-CN"/>
              <a:t>Rof</a:t>
            </a:r>
            <a:r>
              <a:rPr lang="zh-CN" altLang="en-US"/>
              <a:t>下行（中心站</a:t>
            </a:r>
            <a:r>
              <a:rPr lang="en-US" altLang="zh-CN"/>
              <a:t> CS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单模光纤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基站</a:t>
            </a:r>
            <a:r>
              <a:rPr lang="en-US" altLang="zh-CN"/>
              <a:t> BS</a:t>
            </a:r>
            <a:r>
              <a:rPr lang="zh-CN" altLang="en-US"/>
              <a:t>），</a:t>
            </a:r>
            <a:r>
              <a:rPr lang="en-US" altLang="zh-CN"/>
              <a:t>3GPP </a:t>
            </a:r>
            <a:r>
              <a:rPr lang="zh-CN" altLang="en-US"/>
              <a:t>规定的</a:t>
            </a:r>
            <a:r>
              <a:rPr lang="en-US" altLang="zh-CN"/>
              <a:t>LDPC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828675" y="1636395"/>
            <a:ext cx="72707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可参考点：出现发射机光功率受限，又有色散、非线性等损伤</a:t>
            </a:r>
            <a:r>
              <a:rPr lang="zh-CN" altLang="en-US"/>
              <a:t>问题。</a:t>
            </a:r>
            <a:endParaRPr lang="zh-CN" altLang="en-US"/>
          </a:p>
          <a:p>
            <a:pPr marL="457200" lvl="1" indent="457200"/>
            <a:r>
              <a:rPr lang="zh-CN" altLang="en-US"/>
              <a:t>采用</a:t>
            </a:r>
            <a:r>
              <a:rPr lang="en-US" altLang="zh-CN"/>
              <a:t>LDPC-PS-16QAM</a:t>
            </a:r>
            <a:r>
              <a:rPr lang="zh-CN" altLang="en-US"/>
              <a:t>的方式传</a:t>
            </a:r>
            <a:r>
              <a:rPr lang="zh-CN" altLang="en-US"/>
              <a:t>播</a:t>
            </a:r>
            <a:endParaRPr lang="zh-CN" altLang="en-US"/>
          </a:p>
          <a:p>
            <a:pPr marL="457200" lvl="1" indent="457200"/>
            <a:r>
              <a:rPr lang="en-US" altLang="zh-CN"/>
              <a:t>LDPC</a:t>
            </a:r>
            <a:r>
              <a:rPr lang="zh-CN" altLang="en-US"/>
              <a:t>：纠错，减弱信道的噪声</a:t>
            </a:r>
            <a:r>
              <a:rPr lang="zh-CN" altLang="en-US"/>
              <a:t>影响；</a:t>
            </a:r>
            <a:endParaRPr lang="zh-CN" altLang="en-US"/>
          </a:p>
          <a:p>
            <a:pPr marL="457200" lvl="1" indent="457200"/>
            <a:r>
              <a:rPr lang="en-US" altLang="zh-CN"/>
              <a:t>PS</a:t>
            </a:r>
            <a:r>
              <a:rPr lang="zh-CN" altLang="en-US"/>
              <a:t>：将星座图中的功率不均匀分布，节省发射端</a:t>
            </a:r>
            <a:r>
              <a:rPr lang="zh-CN" altLang="en-US"/>
              <a:t>功率；</a:t>
            </a:r>
            <a:endParaRPr lang="zh-CN" altLang="en-US"/>
          </a:p>
          <a:p>
            <a:pPr marL="457200" lvl="1" indent="457200"/>
            <a:r>
              <a:rPr lang="en-US" altLang="zh-CN"/>
              <a:t>16-QAM</a:t>
            </a:r>
            <a:r>
              <a:rPr lang="zh-CN" altLang="en-US"/>
              <a:t>：传输信息量可以</a:t>
            </a:r>
            <a:r>
              <a:rPr lang="zh-CN" altLang="en-US"/>
              <a:t>大幅提升。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25525" y="3805555"/>
            <a:ext cx="8333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结论：在</a:t>
            </a:r>
            <a:r>
              <a:rPr lang="en-US" altLang="zh-CN"/>
              <a:t> RoF </a:t>
            </a:r>
            <a:r>
              <a:rPr lang="zh-CN" altLang="en-US"/>
              <a:t>里用</a:t>
            </a:r>
            <a:r>
              <a:rPr lang="en-US" altLang="zh-CN"/>
              <a:t> 3GPP LDPC + </a:t>
            </a:r>
            <a:r>
              <a:rPr lang="zh-CN" altLang="en-US"/>
              <a:t>标志取反概率整形的</a:t>
            </a:r>
            <a:r>
              <a:rPr lang="en-US" altLang="zh-CN"/>
              <a:t> 64QAM</a:t>
            </a:r>
            <a:r>
              <a:rPr lang="zh-CN" altLang="en-US"/>
              <a:t>，仿真表明比均匀</a:t>
            </a:r>
            <a:r>
              <a:rPr lang="en-US" altLang="zh-CN"/>
              <a:t> 64QAM </a:t>
            </a:r>
            <a:r>
              <a:rPr lang="zh-CN" altLang="en-US"/>
              <a:t>更省发射功率、更抗噪、光纤能传得更远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90575" y="615315"/>
            <a:ext cx="1873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90575" y="1194118"/>
            <a:ext cx="5080000" cy="128143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短码长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 QC-LDPC 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有两个难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题：</a:t>
            </a:r>
            <a:endParaRPr lang="zh-CN" altLang="en-US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短环（尤其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环，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环）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BP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译码消息回流，性能差</a:t>
            </a:r>
            <a:endParaRPr lang="zh-CN" altLang="en-US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小陷阱集（如 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(5,3)(6,4)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高信噪比出现错误平层（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BER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降不下去）</a:t>
            </a:r>
            <a:endParaRPr lang="zh-CN" altLang="en-US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7395" y="4862195"/>
            <a:ext cx="9316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结论：用</a:t>
            </a:r>
            <a:r>
              <a:rPr lang="en-US" altLang="zh-CN"/>
              <a:t> Stanley </a:t>
            </a:r>
            <a:r>
              <a:rPr lang="zh-CN" altLang="en-US"/>
              <a:t>序列，再用遗传算法，得到性能更好的短码长</a:t>
            </a:r>
            <a:r>
              <a:rPr lang="en-US" altLang="zh-CN"/>
              <a:t> QC-LDPC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7" name="图片 6" descr="屏幕截图 2026-08-02 134012"/>
          <p:cNvPicPr>
            <a:picLocks noChangeAspect="1"/>
          </p:cNvPicPr>
          <p:nvPr/>
        </p:nvPicPr>
        <p:blipFill>
          <a:blip r:embed="rId1"/>
          <a:srcRect t="11170"/>
          <a:stretch>
            <a:fillRect/>
          </a:stretch>
        </p:blipFill>
        <p:spPr>
          <a:xfrm>
            <a:off x="1826895" y="3286125"/>
            <a:ext cx="1847850" cy="5302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63930" y="2908935"/>
            <a:ext cx="6892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Stanley</a:t>
            </a:r>
            <a:r>
              <a:rPr lang="zh-CN" altLang="en-US"/>
              <a:t>序列</a:t>
            </a:r>
            <a:r>
              <a:rPr lang="en-US" altLang="zh-CN"/>
              <a:t>  </a:t>
            </a:r>
            <a:r>
              <a:rPr lang="zh-CN" altLang="en-US"/>
              <a:t>显示</a:t>
            </a:r>
            <a:r>
              <a:rPr lang="zh-CN" altLang="en-US"/>
              <a:t>公式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63930" y="382524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Stanley</a:t>
            </a:r>
            <a:r>
              <a:rPr lang="zh-CN" altLang="en-US"/>
              <a:t>：锁死前两行并保证它们不出现</a:t>
            </a:r>
            <a:r>
              <a:rPr lang="en-US" altLang="zh-CN"/>
              <a:t> 4 </a:t>
            </a:r>
            <a:r>
              <a:rPr lang="zh-CN" altLang="en-US"/>
              <a:t>环；</a:t>
            </a:r>
            <a:endParaRPr lang="zh-CN" altLang="en-US"/>
          </a:p>
          <a:p>
            <a:r>
              <a:rPr lang="zh-CN" altLang="en-US"/>
              <a:t>遗传算法：在无四六环约束下把第三行搜到</a:t>
            </a:r>
            <a:r>
              <a:rPr lang="en-US" altLang="zh-CN"/>
              <a:t>“</a:t>
            </a:r>
            <a:r>
              <a:rPr lang="zh-CN" altLang="en-US"/>
              <a:t>陷阱集更少</a:t>
            </a:r>
            <a:r>
              <a:rPr lang="en-US" altLang="zh-CN"/>
              <a:t>”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846455" y="627380"/>
            <a:ext cx="2256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</a:t>
            </a:r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958215" y="134175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在少光子、衰减大、噪声强的水下光信道里，单纯</a:t>
            </a:r>
            <a:r>
              <a:rPr lang="en-US" altLang="zh-CN"/>
              <a:t> PPM </a:t>
            </a:r>
            <a:r>
              <a:rPr lang="zh-CN" altLang="en-US"/>
              <a:t>功率效率高但怕时间抖动</a:t>
            </a:r>
            <a:r>
              <a:rPr lang="en-US" altLang="zh-CN"/>
              <a:t>/</a:t>
            </a:r>
            <a:r>
              <a:rPr lang="zh-CN" altLang="en-US"/>
              <a:t>展宽；单纯强度调制不那么怕定时，但功率效率差。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82040" y="2738120"/>
            <a:ext cx="64662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搭了一套</a:t>
            </a:r>
            <a:r>
              <a:rPr lang="en-US" altLang="zh-CN"/>
              <a:t> 450 nm </a:t>
            </a:r>
            <a:r>
              <a:rPr lang="zh-CN" altLang="en-US"/>
              <a:t>激光</a:t>
            </a:r>
            <a:r>
              <a:rPr lang="en-US" altLang="zh-CN"/>
              <a:t> + FPGA + SiPM</a:t>
            </a:r>
            <a:r>
              <a:rPr lang="zh-CN" altLang="en-US"/>
              <a:t>（硅光电倍增管）</a:t>
            </a:r>
            <a:r>
              <a:rPr lang="en-US" altLang="zh-CN"/>
              <a:t>+ TDC </a:t>
            </a:r>
            <a:r>
              <a:rPr lang="zh-CN" altLang="en-US"/>
              <a:t>的水下实验系统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82040" y="3973195"/>
            <a:ext cx="68751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把低阶</a:t>
            </a:r>
            <a:r>
              <a:rPr lang="en-US" altLang="zh-CN"/>
              <a:t> 4-PPM</a:t>
            </a:r>
            <a:r>
              <a:rPr lang="zh-CN" altLang="en-US"/>
              <a:t>（位置</a:t>
            </a:r>
            <a:r>
              <a:rPr lang="en-US" altLang="zh-CN"/>
              <a:t> 2 bit</a:t>
            </a:r>
            <a:r>
              <a:rPr lang="zh-CN" altLang="en-US"/>
              <a:t>）和</a:t>
            </a:r>
            <a:r>
              <a:rPr lang="en-US" altLang="zh-CN"/>
              <a:t> 2 bit </a:t>
            </a:r>
            <a:r>
              <a:rPr lang="zh-CN" altLang="en-US"/>
              <a:t>光强叠在同一脉冲上，用</a:t>
            </a:r>
            <a:r>
              <a:rPr lang="en-US" altLang="zh-CN"/>
              <a:t> SiPM </a:t>
            </a:r>
            <a:r>
              <a:rPr lang="zh-CN" altLang="en-US"/>
              <a:t>在少光子条件下做水下光通信，并靠重复发送提高动态信道可靠性；实验达到约</a:t>
            </a:r>
            <a:r>
              <a:rPr lang="en-US" altLang="zh-CN"/>
              <a:t> 11.84 Mbps</a:t>
            </a:r>
            <a:r>
              <a:rPr lang="zh-CN" altLang="en-US"/>
              <a:t>、单脉冲约</a:t>
            </a:r>
            <a:r>
              <a:rPr lang="en-US" altLang="zh-CN"/>
              <a:t> 150 </a:t>
            </a:r>
            <a:r>
              <a:rPr lang="zh-CN" altLang="en-US"/>
              <a:t>光子量级。</a:t>
            </a:r>
            <a:endParaRPr lang="zh-CN" altLang="en-US"/>
          </a:p>
        </p:txBody>
      </p:sp>
      <p:pic>
        <p:nvPicPr>
          <p:cNvPr id="2" name="图片 1" descr="屏幕截图 2026-08-03 1024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7185" y="301625"/>
            <a:ext cx="3873500" cy="3848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455" y="3962400"/>
            <a:ext cx="5947338" cy="196095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3455" y="536028"/>
            <a:ext cx="109026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极化码核心：信道极化，极化码 </a:t>
            </a:r>
            <a:r>
              <a:rPr lang="en-US" altLang="zh-CN" dirty="0"/>
              <a:t>= </a:t>
            </a:r>
            <a:r>
              <a:rPr lang="zh-CN" altLang="en-US" dirty="0"/>
              <a:t>用确定的数学变换让信道</a:t>
            </a:r>
            <a:r>
              <a:rPr lang="en-US" altLang="zh-CN" dirty="0"/>
              <a:t>"</a:t>
            </a:r>
            <a:r>
              <a:rPr lang="zh-CN" altLang="en-US" dirty="0"/>
              <a:t>两极分化</a:t>
            </a:r>
            <a:r>
              <a:rPr lang="en-US" altLang="zh-CN" dirty="0"/>
              <a:t>"</a:t>
            </a:r>
            <a:r>
              <a:rPr lang="zh-CN" altLang="en-US" dirty="0"/>
              <a:t>，只用好信道传信息，坏信道发已知比特</a:t>
            </a:r>
            <a:endParaRPr lang="zh-CN" altLang="en-US" dirty="0"/>
          </a:p>
          <a:p>
            <a:r>
              <a:rPr lang="en-US" altLang="zh-CN" dirty="0"/>
              <a:t>1 </a:t>
            </a:r>
            <a:r>
              <a:rPr lang="zh-CN" altLang="en-US" dirty="0"/>
              <a:t>个原始信道</a:t>
            </a:r>
            <a:r>
              <a:rPr lang="en-US" altLang="zh-CN" dirty="0"/>
              <a:t>W</a:t>
            </a:r>
            <a:r>
              <a:rPr lang="zh-CN" altLang="en-US" dirty="0"/>
              <a:t>，经过极化变换分裂为 </a:t>
            </a:r>
            <a:r>
              <a:rPr lang="en-US" altLang="zh-CN" dirty="0"/>
              <a:t>2 </a:t>
            </a:r>
            <a:r>
              <a:rPr lang="zh-CN" altLang="en-US" dirty="0"/>
              <a:t>个子信道；</a:t>
            </a:r>
            <a:endParaRPr lang="zh-CN" altLang="en-US" dirty="0"/>
          </a:p>
          <a:p>
            <a:r>
              <a:rPr lang="zh-CN" altLang="en-US" dirty="0"/>
              <a:t>最终生成</a:t>
            </a:r>
            <a:r>
              <a:rPr lang="en-US" altLang="zh-CN" dirty="0"/>
              <a:t>N</a:t>
            </a:r>
            <a:r>
              <a:rPr lang="zh-CN" altLang="en-US" dirty="0"/>
              <a:t>个极化子信道</a:t>
            </a:r>
            <a:endParaRPr lang="zh-CN" altLang="en-US" dirty="0"/>
          </a:p>
          <a:p>
            <a:r>
              <a:rPr lang="zh-CN" altLang="en-US" dirty="0"/>
              <a:t>坏信道 </a:t>
            </a:r>
            <a:r>
              <a:rPr lang="en-US" altLang="zh-CN" dirty="0"/>
              <a:t>W⁻</a:t>
            </a:r>
            <a:r>
              <a:rPr lang="zh-CN" altLang="en-US" dirty="0"/>
              <a:t>：</a:t>
            </a:r>
            <a:r>
              <a:rPr lang="en-US" altLang="zh-CN" dirty="0"/>
              <a:t>Z(W⁻) = 2z − z²</a:t>
            </a:r>
            <a:r>
              <a:rPr lang="zh-CN" altLang="en-US" dirty="0"/>
              <a:t>（</a:t>
            </a:r>
            <a:r>
              <a:rPr lang="en-US" altLang="zh-CN" dirty="0"/>
              <a:t>Z </a:t>
            </a:r>
            <a:r>
              <a:rPr lang="zh-CN" altLang="en-US" dirty="0"/>
              <a:t>变大或不变，因为 </a:t>
            </a:r>
            <a:r>
              <a:rPr lang="en-US" altLang="zh-CN" dirty="0"/>
              <a:t>2z − z² ≥ z </a:t>
            </a:r>
            <a:r>
              <a:rPr lang="zh-CN" altLang="en-US" dirty="0"/>
              <a:t>当 </a:t>
            </a:r>
            <a:r>
              <a:rPr lang="en-US" altLang="zh-CN" dirty="0"/>
              <a:t>z ≤ 1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好信道 </a:t>
            </a:r>
            <a:r>
              <a:rPr lang="en-US" altLang="zh-CN" dirty="0"/>
              <a:t>W⁺</a:t>
            </a:r>
            <a:r>
              <a:rPr lang="zh-CN" altLang="en-US" dirty="0"/>
              <a:t>：</a:t>
            </a:r>
            <a:r>
              <a:rPr lang="en-US" altLang="zh-CN" dirty="0"/>
              <a:t>Z(W⁺) = z²</a:t>
            </a:r>
            <a:r>
              <a:rPr lang="zh-CN" altLang="en-US" dirty="0"/>
              <a:t>（</a:t>
            </a:r>
            <a:r>
              <a:rPr lang="en-US" altLang="zh-CN" dirty="0"/>
              <a:t>Z </a:t>
            </a:r>
            <a:r>
              <a:rPr lang="zh-CN" altLang="en-US" dirty="0"/>
              <a:t>变小或不变，因为 </a:t>
            </a:r>
            <a:r>
              <a:rPr lang="en-US" altLang="zh-CN" dirty="0"/>
              <a:t>z² ≤ z </a:t>
            </a:r>
            <a:r>
              <a:rPr lang="zh-CN" altLang="en-US" dirty="0"/>
              <a:t>当 </a:t>
            </a:r>
            <a:r>
              <a:rPr lang="en-US" altLang="zh-CN" dirty="0"/>
              <a:t>z ≤ 1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得到</a:t>
            </a:r>
            <a:r>
              <a:rPr lang="en-US" altLang="zh-CN" dirty="0"/>
              <a:t>N</a:t>
            </a:r>
            <a:r>
              <a:rPr lang="zh-CN" altLang="en-US" dirty="0"/>
              <a:t>个子信道对应的巴氏参数集合</a:t>
            </a:r>
            <a:r>
              <a:rPr lang="en-US" altLang="zh-CN" dirty="0"/>
              <a:t>Z1,Z2,Z3...</a:t>
            </a:r>
            <a:endParaRPr lang="en-US" altLang="zh-CN" dirty="0"/>
          </a:p>
          <a:p>
            <a:r>
              <a:rPr lang="zh-CN" altLang="en-US" dirty="0"/>
              <a:t>取排序后前 </a:t>
            </a:r>
            <a:r>
              <a:rPr lang="en-US" altLang="zh-CN" dirty="0"/>
              <a:t>K </a:t>
            </a:r>
            <a:r>
              <a:rPr lang="zh-CN" altLang="en-US" dirty="0"/>
              <a:t>个 </a:t>
            </a:r>
            <a:r>
              <a:rPr lang="en-US" altLang="zh-CN" dirty="0"/>
              <a:t>Z </a:t>
            </a:r>
            <a:r>
              <a:rPr lang="zh-CN" altLang="en-US" dirty="0"/>
              <a:t>最小的信道下标，构成信息集合；</a:t>
            </a:r>
            <a:endParaRPr lang="zh-CN" altLang="en-US" dirty="0"/>
          </a:p>
          <a:p>
            <a:r>
              <a:rPr lang="zh-CN" altLang="en-US" dirty="0"/>
              <a:t>剩余</a:t>
            </a:r>
            <a:r>
              <a:rPr lang="en-US" altLang="zh-CN" dirty="0"/>
              <a:t>\(N-K\)</a:t>
            </a:r>
            <a:r>
              <a:rPr lang="zh-CN" altLang="en-US" dirty="0"/>
              <a:t>个 </a:t>
            </a:r>
            <a:r>
              <a:rPr lang="en-US" altLang="zh-CN" dirty="0"/>
              <a:t>Z </a:t>
            </a:r>
            <a:r>
              <a:rPr lang="zh-CN" altLang="en-US" dirty="0"/>
              <a:t>更大的下标构成冻结集合，冻结比特固定为 </a:t>
            </a:r>
            <a:r>
              <a:rPr lang="en-US" altLang="zh-CN" dirty="0"/>
              <a:t>0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726621" y="3878317"/>
            <a:ext cx="49819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铅直信道垂直方向上叶绿素分布不均，表层少，浅层多，再往下再减少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极化码的码率选择直接由信道误码率（即 </a:t>
            </a:r>
            <a:r>
              <a:rPr lang="en-US" altLang="zh-CN" dirty="0"/>
              <a:t>SNR</a:t>
            </a:r>
            <a:r>
              <a:rPr lang="zh-CN" altLang="en-US" dirty="0"/>
              <a:t>）决定，而铅直信道的 </a:t>
            </a:r>
            <a:r>
              <a:rPr lang="en-US" altLang="zh-CN" dirty="0"/>
              <a:t>SNR </a:t>
            </a:r>
            <a:r>
              <a:rPr lang="zh-CN" altLang="en-US" dirty="0"/>
              <a:t>随深度和介质浓度变化，因此编码码率必须随信道环境自适应调整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根据实测得的水下信道数据，将信息比特动态分配到适合的子信道，适配不对称的铅直信道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52248" y="252248"/>
            <a:ext cx="5843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论文</a:t>
            </a:r>
            <a:r>
              <a:rPr lang="en-US" altLang="zh-CN" dirty="0"/>
              <a:t>5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2152" y="220717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论文</a:t>
            </a:r>
            <a:r>
              <a:rPr lang="en-US" altLang="zh-CN"/>
              <a:t>6</a:t>
            </a:r>
            <a:endParaRPr lang="en-US" altLang="zh-CN"/>
          </a:p>
          <a:p>
            <a:r>
              <a:rPr lang="en-US" altLang="zh-CN" dirty="0"/>
              <a:t>PNC</a:t>
            </a:r>
            <a:r>
              <a:rPr lang="zh-CN" altLang="en-US" dirty="0"/>
              <a:t>中继</a:t>
            </a:r>
            <a:endParaRPr lang="zh-CN" altLang="en-US" dirty="0"/>
          </a:p>
          <a:p>
            <a:r>
              <a:rPr lang="zh-CN" altLang="en-US" dirty="0"/>
              <a:t>，用户根据自信息依次解映射得到其余</a:t>
            </a:r>
            <a:endParaRPr lang="zh-CN" altLang="en-US" dirty="0"/>
          </a:p>
          <a:p>
            <a:r>
              <a:rPr lang="zh-CN" altLang="en-US" dirty="0"/>
              <a:t>所有用户的信息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152" y="1882542"/>
            <a:ext cx="5318234" cy="426843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980386" y="557048"/>
            <a:ext cx="5318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DC 增益"是描述</a:t>
            </a:r>
            <a:r>
              <a:rPr lang="zh-CN" altLang="zh-CN" b="1" dirty="0"/>
              <a:t>信号从发射端到接收端总衰减</a:t>
            </a:r>
            <a:r>
              <a:rPr lang="zh-CN" altLang="zh-CN" dirty="0"/>
              <a:t>的一个常数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096000" y="1681655"/>
            <a:ext cx="50975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PNC 核心思想：两个用户同时向中继发送信号，中继不分别解码每个用户的数据，而是直接从叠加信号中映射出"两个用户的异或"（网络编码），再广播给所有用户。每个用户用自己的数据与收到的异或做异或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616" y="3343657"/>
            <a:ext cx="4540467" cy="32936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1434" y="609600"/>
            <a:ext cx="1102535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基于</a:t>
            </a:r>
            <a:r>
              <a:rPr lang="en-US" altLang="zh-CN" dirty="0"/>
              <a:t>QC-LDPC</a:t>
            </a:r>
            <a:r>
              <a:rPr lang="zh-CN" altLang="en-US" dirty="0"/>
              <a:t>编码的海洋湍流光通信多调制格式性能对比实验研究</a:t>
            </a:r>
            <a:r>
              <a:rPr lang="en-US" altLang="zh-CN" dirty="0"/>
              <a:t>_</a:t>
            </a:r>
            <a:r>
              <a:rPr lang="zh-CN" altLang="en-US" dirty="0"/>
              <a:t>闫军</a:t>
            </a:r>
            <a:endParaRPr lang="zh-CN" altLang="en-US" dirty="0"/>
          </a:p>
          <a:p>
            <a:r>
              <a:rPr lang="en-US" altLang="zh-CN" dirty="0"/>
              <a:t>LDPC</a:t>
            </a:r>
            <a:endParaRPr lang="en-US" altLang="zh-CN" dirty="0"/>
          </a:p>
          <a:p>
            <a:r>
              <a:rPr lang="zh-CN" altLang="en-US" dirty="0"/>
              <a:t>初始置信度，对数似然比 </a:t>
            </a:r>
            <a:r>
              <a:rPr lang="en-US" altLang="zh-CN" dirty="0"/>
              <a:t>LLR = ln[P(y|0) / P(y|1)</a:t>
            </a:r>
            <a:r>
              <a:rPr lang="zh-CN" altLang="en-US" dirty="0"/>
              <a:t>（</a:t>
            </a:r>
            <a:r>
              <a:rPr lang="zh-CN" altLang="zh-CN" dirty="0"/>
              <a:t>变量节点将初始置信度沿边发送给相邻的校验节点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tanh </a:t>
            </a:r>
            <a:r>
              <a:rPr lang="zh-CN" altLang="en-US" dirty="0"/>
              <a:t>法则 </a:t>
            </a:r>
            <a:r>
              <a:rPr lang="en-US" altLang="zh-CN" dirty="0"/>
              <a:t>— </a:t>
            </a:r>
            <a:r>
              <a:rPr lang="zh-CN" altLang="en-US" dirty="0"/>
              <a:t>利用其他变量的可信度推断当前变量（</a:t>
            </a:r>
            <a:r>
              <a:rPr lang="zh-CN" altLang="zh-CN" dirty="0"/>
              <a:t>校验方程是否满足“的外信息将外信息发送回每个变量节点</a:t>
            </a:r>
            <a:r>
              <a:rPr lang="zh-CN" altLang="en-US" dirty="0"/>
              <a:t>）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Dayan </a:t>
            </a:r>
            <a:r>
              <a:rPr lang="zh-CN" altLang="en-US" dirty="0"/>
              <a:t>数列</a:t>
            </a:r>
            <a:endParaRPr lang="zh-CN" altLang="en-US" dirty="0"/>
          </a:p>
          <a:p>
            <a:r>
              <a:rPr lang="en-US" altLang="zh-CN" dirty="0"/>
              <a:t>Dayan </a:t>
            </a:r>
            <a:r>
              <a:rPr lang="zh-CN" altLang="en-US" dirty="0"/>
              <a:t>数列的核心性质是 </a:t>
            </a:r>
            <a:r>
              <a:rPr lang="en-US" altLang="zh-CN" dirty="0"/>
              <a:t>"</a:t>
            </a:r>
            <a:r>
              <a:rPr lang="zh-CN" altLang="en-US" dirty="0"/>
              <a:t>相邻差值互不相同</a:t>
            </a:r>
            <a:endParaRPr lang="zh-CN" altLang="en-US" dirty="0"/>
          </a:p>
          <a:p>
            <a:r>
              <a:rPr lang="zh-CN" altLang="en-US" dirty="0"/>
              <a:t>无 </a:t>
            </a:r>
            <a:r>
              <a:rPr lang="en-US" altLang="zh-CN" dirty="0"/>
              <a:t>4 </a:t>
            </a:r>
            <a:r>
              <a:rPr lang="zh-CN" altLang="en-US" dirty="0"/>
              <a:t>环条件</a:t>
            </a:r>
            <a:r>
              <a:rPr lang="en-US" altLang="zh-CN" dirty="0"/>
              <a:t>——</a:t>
            </a:r>
            <a:r>
              <a:rPr lang="zh-CN" altLang="en-US" dirty="0"/>
              <a:t>任意 </a:t>
            </a:r>
            <a:r>
              <a:rPr lang="en-US" altLang="zh-CN" dirty="0"/>
              <a:t>2×2 </a:t>
            </a:r>
            <a:r>
              <a:rPr lang="zh-CN" altLang="en-US" dirty="0"/>
              <a:t>子块的交替和 </a:t>
            </a:r>
            <a:r>
              <a:rPr lang="en-US" altLang="zh-CN" dirty="0"/>
              <a:t>S₁₁-S₁₂+S₂₂-S₂₁ ≠ 0 (mod b)</a:t>
            </a:r>
            <a:r>
              <a:rPr lang="zh-CN" altLang="en-US" dirty="0"/>
              <a:t>。代入 </a:t>
            </a:r>
            <a:r>
              <a:rPr lang="en-US" altLang="zh-CN" dirty="0"/>
              <a:t>Dayan </a:t>
            </a:r>
            <a:r>
              <a:rPr lang="zh-CN" altLang="en-US" dirty="0"/>
              <a:t>数列后：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交替和 </a:t>
            </a:r>
            <a:r>
              <a:rPr lang="en-US" altLang="zh-CN" dirty="0"/>
              <a:t>= dᵢ - dᵢ₊₁ + dᵢ₊₂ - dᵢ₊₁</a:t>
            </a:r>
            <a:r>
              <a:rPr lang="zh-CN" altLang="en-US" dirty="0"/>
              <a:t>所以不会为零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LU</a:t>
            </a:r>
            <a:r>
              <a:rPr lang="zh-CN" altLang="en-US" dirty="0"/>
              <a:t>编码</a:t>
            </a:r>
            <a:endParaRPr lang="zh-CN" altLang="en-US" dirty="0"/>
          </a:p>
          <a:p>
            <a:r>
              <a:rPr lang="zh-CN" altLang="en-US" dirty="0"/>
              <a:t>传统的 </a:t>
            </a:r>
            <a:r>
              <a:rPr lang="en-US" altLang="zh-CN" dirty="0"/>
              <a:t>LDPC </a:t>
            </a:r>
            <a:r>
              <a:rPr lang="zh-CN" altLang="en-US" dirty="0"/>
              <a:t>编码路径是：</a:t>
            </a:r>
            <a:r>
              <a:rPr lang="en-US" altLang="zh-CN" dirty="0"/>
              <a:t>H → </a:t>
            </a:r>
            <a:r>
              <a:rPr lang="zh-CN" altLang="en-US" dirty="0"/>
              <a:t>推导 </a:t>
            </a:r>
            <a:r>
              <a:rPr lang="en-US" altLang="zh-CN" dirty="0"/>
              <a:t>G → c = </a:t>
            </a:r>
            <a:r>
              <a:rPr lang="en-US" altLang="zh-CN" dirty="0" err="1"/>
              <a:t>m·G</a:t>
            </a:r>
            <a:endParaRPr lang="en-US" altLang="zh-CN" dirty="0"/>
          </a:p>
          <a:p>
            <a:r>
              <a:rPr lang="zh-CN" altLang="en-US" dirty="0"/>
              <a:t>跳过 </a:t>
            </a:r>
            <a:r>
              <a:rPr lang="en-US" altLang="zh-CN" dirty="0"/>
              <a:t>G </a:t>
            </a:r>
            <a:r>
              <a:rPr lang="zh-CN" altLang="en-US" dirty="0"/>
              <a:t>矩阵，直接从 </a:t>
            </a:r>
            <a:r>
              <a:rPr lang="en-US" altLang="zh-CN" dirty="0"/>
              <a:t>H </a:t>
            </a:r>
            <a:r>
              <a:rPr lang="zh-CN" altLang="en-US" dirty="0"/>
              <a:t>出发编码。因为校验方程 </a:t>
            </a:r>
            <a:r>
              <a:rPr lang="en-US" altLang="zh-CN" dirty="0" err="1"/>
              <a:t>H·c</a:t>
            </a:r>
            <a:r>
              <a:rPr lang="en-US" altLang="zh-CN" dirty="0"/>
              <a:t>ᵀ = 0 </a:t>
            </a:r>
            <a:r>
              <a:rPr lang="zh-CN" altLang="en-US" dirty="0"/>
              <a:t>可以改写为 </a:t>
            </a:r>
            <a:r>
              <a:rPr lang="en-US" altLang="zh-CN" dirty="0" err="1"/>
              <a:t>Hp·p</a:t>
            </a:r>
            <a:r>
              <a:rPr lang="en-US" altLang="zh-CN" dirty="0"/>
              <a:t> = </a:t>
            </a:r>
            <a:r>
              <a:rPr lang="en-US" altLang="zh-CN" dirty="0" err="1"/>
              <a:t>Hs·m</a:t>
            </a:r>
            <a:r>
              <a:rPr lang="zh-CN" altLang="en-US" dirty="0"/>
              <a:t>（信息 </a:t>
            </a:r>
            <a:r>
              <a:rPr lang="en-US" altLang="zh-CN" dirty="0"/>
              <a:t>m </a:t>
            </a:r>
            <a:r>
              <a:rPr lang="zh-CN" altLang="en-US" dirty="0"/>
              <a:t>已知，求校验 </a:t>
            </a:r>
            <a:r>
              <a:rPr lang="en-US" altLang="zh-CN" dirty="0"/>
              <a:t>p</a:t>
            </a:r>
            <a:r>
              <a:rPr lang="zh-CN" altLang="en-US" dirty="0"/>
              <a:t>），只需求解这个线性方程组即可。</a:t>
            </a:r>
            <a:endParaRPr lang="zh-CN" altLang="en-US" dirty="0"/>
          </a:p>
          <a:p>
            <a:r>
              <a:rPr lang="zh-CN" altLang="en-US" dirty="0"/>
              <a:t>直接求解 </a:t>
            </a:r>
            <a:r>
              <a:rPr lang="en-US" altLang="zh-CN" dirty="0" err="1"/>
              <a:t>Hp·p</a:t>
            </a:r>
            <a:r>
              <a:rPr lang="en-US" altLang="zh-CN" dirty="0"/>
              <a:t> = </a:t>
            </a:r>
            <a:r>
              <a:rPr lang="en-US" altLang="zh-CN" dirty="0" err="1"/>
              <a:t>Hs·m</a:t>
            </a:r>
            <a:r>
              <a:rPr lang="en-US" altLang="zh-CN" dirty="0"/>
              <a:t> </a:t>
            </a:r>
            <a:r>
              <a:rPr lang="zh-CN" altLang="en-US" dirty="0"/>
              <a:t>需要 </a:t>
            </a:r>
            <a:r>
              <a:rPr lang="en-US" altLang="zh-CN" dirty="0"/>
              <a:t>Hp </a:t>
            </a:r>
            <a:r>
              <a:rPr lang="zh-CN" altLang="en-US" dirty="0"/>
              <a:t>的逆矩阵，复杂度 </a:t>
            </a:r>
            <a:r>
              <a:rPr lang="en-US" altLang="zh-CN" dirty="0"/>
              <a:t>O(n³)</a:t>
            </a:r>
            <a:r>
              <a:rPr lang="zh-CN" altLang="en-US" dirty="0"/>
              <a:t>。但 </a:t>
            </a:r>
            <a:r>
              <a:rPr lang="en-US" altLang="zh-CN" dirty="0"/>
              <a:t>LU </a:t>
            </a:r>
            <a:r>
              <a:rPr lang="zh-CN" altLang="en-US" dirty="0"/>
              <a:t>分解后：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 err="1"/>
              <a:t>L·z</a:t>
            </a:r>
            <a:r>
              <a:rPr lang="en-US" altLang="zh-CN" dirty="0"/>
              <a:t> = </a:t>
            </a:r>
            <a:r>
              <a:rPr lang="en-US" altLang="zh-CN" dirty="0" err="1"/>
              <a:t>Hs·m</a:t>
            </a:r>
            <a:r>
              <a:rPr lang="zh-CN" altLang="en-US" dirty="0"/>
              <a:t>（前向替代）：</a:t>
            </a:r>
            <a:r>
              <a:rPr lang="en-US" altLang="zh-CN" dirty="0"/>
              <a:t>L </a:t>
            </a:r>
            <a:r>
              <a:rPr lang="zh-CN" altLang="en-US" dirty="0"/>
              <a:t>是下三角，从第一行开始，每行只有一个未知数，逐行求解 → </a:t>
            </a:r>
            <a:r>
              <a:rPr lang="en-US" altLang="zh-CN" dirty="0"/>
              <a:t>O(n) × </a:t>
            </a:r>
            <a:r>
              <a:rPr lang="zh-CN" altLang="en-US" dirty="0"/>
              <a:t>每行非零元素数</a:t>
            </a:r>
            <a:endParaRPr lang="zh-CN" altLang="en-US" dirty="0"/>
          </a:p>
          <a:p>
            <a:r>
              <a:rPr lang="en-US" altLang="zh-CN" dirty="0" err="1"/>
              <a:t>U·p</a:t>
            </a:r>
            <a:r>
              <a:rPr lang="en-US" altLang="zh-CN" dirty="0"/>
              <a:t> = z</a:t>
            </a:r>
            <a:r>
              <a:rPr lang="zh-CN" altLang="en-US" dirty="0"/>
              <a:t>（后向替代）：</a:t>
            </a:r>
            <a:r>
              <a:rPr lang="en-US" altLang="zh-CN" dirty="0"/>
              <a:t>U </a:t>
            </a:r>
            <a:r>
              <a:rPr lang="zh-CN" altLang="en-US" dirty="0"/>
              <a:t>是上三角，从最后一行开始，同样逐行求解 → </a:t>
            </a:r>
            <a:r>
              <a:rPr lang="en-US" altLang="zh-CN" dirty="0"/>
              <a:t>O(n)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5103" y="136634"/>
            <a:ext cx="575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论文</a:t>
            </a:r>
            <a:r>
              <a:rPr lang="en-US" altLang="zh-CN" dirty="0"/>
              <a:t>7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125085" y="5886831"/>
            <a:ext cx="1850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光源：</a:t>
            </a:r>
            <a:r>
              <a:rPr lang="en-US" altLang="zh-CN" dirty="0"/>
              <a:t>LD   LED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34340" y="422275"/>
            <a:ext cx="83604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光模块：无源光器件、有源光器件（光芯片、激光器、探测器）</a:t>
            </a:r>
            <a:endParaRPr lang="zh-CN" altLang="en-US"/>
          </a:p>
          <a:p>
            <a:pPr marL="457200" lvl="1" indent="457200"/>
            <a:r>
              <a:rPr lang="zh-CN" altLang="en-US"/>
              <a:t>光发射组件（含激光器）、光接收组件（含探测器）、驱动电路和光电接口等组成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01074" y="2506980"/>
            <a:ext cx="249936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1.</a:t>
            </a:r>
            <a:r>
              <a:rPr lang="zh-CN" altLang="zh-CN" sz="1400" dirty="0"/>
              <a:t>激光驱动芯片 LD Driver / LED 驱动芯片</a:t>
            </a:r>
            <a:r>
              <a:rPr lang="zh-CN" altLang="en-US" sz="1400" dirty="0"/>
              <a:t>（</a:t>
            </a:r>
            <a:r>
              <a:rPr lang="zh-CN" altLang="zh-CN" sz="1400" dirty="0"/>
              <a:t>将 FPGA 输出的弱数字电平，转成大驱动电流，给光源供电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2</a:t>
            </a:r>
            <a:r>
              <a:rPr lang="zh-CN" altLang="zh-CN" sz="1400" dirty="0"/>
              <a:t>偏置控制电路（APC 自动功率控制）</a:t>
            </a:r>
            <a:r>
              <a:rPr lang="zh-CN" altLang="en-US" sz="1400" dirty="0"/>
              <a:t>（</a:t>
            </a:r>
            <a:r>
              <a:rPr lang="zh-CN" altLang="zh-CN" sz="1400" dirty="0"/>
              <a:t>监测 PD 的光功率，动态调节驱动偏置电流，稳定平均输出光功率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3</a:t>
            </a:r>
            <a:r>
              <a:rPr lang="zh-CN" altLang="zh-CN" sz="1400" dirty="0"/>
              <a:t>背光监测光电二极管（Monitor PD）</a:t>
            </a:r>
            <a:r>
              <a:rPr lang="zh-CN" altLang="en-US" sz="1400" dirty="0"/>
              <a:t>（</a:t>
            </a:r>
            <a:r>
              <a:rPr lang="zh-CN" altLang="zh-CN" sz="1400" dirty="0"/>
              <a:t>将光功率转为电流，反馈给 APC 电路做闭环功率稳定。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en-US" altLang="zh-CN" sz="1400" dirty="0"/>
              <a:t>APC+PD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4</a:t>
            </a:r>
            <a:r>
              <a:rPr lang="zh-CN" altLang="zh-CN" sz="1400" dirty="0"/>
              <a:t>均衡 / 阻抗匹配电路</a:t>
            </a:r>
            <a:r>
              <a:rPr lang="zh-CN" altLang="en-US" sz="1400" dirty="0"/>
              <a:t>（</a:t>
            </a:r>
            <a:r>
              <a:rPr lang="zh-CN" altLang="zh-CN" sz="1400" dirty="0"/>
              <a:t>高速信号下匹配 50Ω 传输阻抗，消除码间干扰，保证高速 OOK/DPSK 调制波形无失真</a:t>
            </a:r>
            <a:r>
              <a:rPr lang="zh-CN" altLang="en-US" sz="1400" dirty="0"/>
              <a:t>）</a:t>
            </a:r>
            <a:endParaRPr lang="zh-CN" altLang="en-US" sz="1400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3297174" y="4163060"/>
            <a:ext cx="2511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834253" y="3745329"/>
            <a:ext cx="197510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DAC</a:t>
            </a:r>
            <a:r>
              <a:rPr lang="zh-CN" altLang="en-US" dirty="0"/>
              <a:t>数模</a:t>
            </a:r>
            <a:r>
              <a:rPr lang="zh-CN" altLang="en-US" dirty="0"/>
              <a:t>转换器（</a:t>
            </a:r>
            <a:r>
              <a:rPr lang="zh-CN" altLang="en-US" dirty="0"/>
              <a:t>将把数字码流变成模拟电波形）</a:t>
            </a:r>
            <a:endParaRPr lang="zh-CN" altLang="en-US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650365" y="3168904"/>
            <a:ext cx="1905" cy="479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101074" y="2113899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电驱动器件</a:t>
            </a:r>
            <a:endParaRPr lang="zh-CN" altLang="en-US" dirty="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808976" y="4021574"/>
            <a:ext cx="1179830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94944" y="3761232"/>
            <a:ext cx="24993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输出二进制数字</a:t>
            </a:r>
            <a:r>
              <a:rPr lang="zh-CN" altLang="en-US" dirty="0"/>
              <a:t>信号（编码</a:t>
            </a:r>
            <a:r>
              <a:rPr lang="en-US" altLang="zh-CN" dirty="0"/>
              <a:t>+</a:t>
            </a:r>
            <a:r>
              <a:rPr lang="zh-CN" altLang="en-US" dirty="0"/>
              <a:t>调制），但电流极小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847344" y="2411079"/>
            <a:ext cx="185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原始数据</a:t>
            </a:r>
            <a:endParaRPr lang="zh-CN" altLang="en-US" dirty="0"/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7290816" y="5431536"/>
            <a:ext cx="1719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084064" y="4998720"/>
            <a:ext cx="1932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光学器件整形、耦合输出</a:t>
            </a:r>
            <a:endParaRPr lang="zh-CN" altLang="en-US" dirty="0"/>
          </a:p>
        </p:txBody>
      </p:sp>
      <p:pic>
        <p:nvPicPr>
          <p:cNvPr id="3" name="图片 2" descr="屏幕截图 2026-07-29 1036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085" y="1043940"/>
            <a:ext cx="6408420" cy="2385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91870" y="3490595"/>
            <a:ext cx="38138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示波器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采样率</a:t>
            </a:r>
            <a:r>
              <a:rPr lang="en-US" altLang="zh-CN"/>
              <a:t>=</a:t>
            </a:r>
            <a:r>
              <a:rPr lang="zh-CN" altLang="en-US"/>
              <a:t>存储深度</a:t>
            </a:r>
            <a:r>
              <a:rPr lang="en-US" altLang="zh-CN"/>
              <a:t>/</a:t>
            </a:r>
            <a:r>
              <a:rPr lang="zh-CN" altLang="en-US"/>
              <a:t>时</a:t>
            </a:r>
            <a:r>
              <a:rPr lang="zh-CN" altLang="en-US"/>
              <a:t>基范围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91870" y="4412615"/>
            <a:ext cx="3622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时基范围</a:t>
            </a:r>
            <a:r>
              <a:rPr lang="en-US" altLang="zh-CN"/>
              <a:t>=Time/Div </a:t>
            </a:r>
            <a:r>
              <a:rPr lang="en-US" altLang="zh-CN"/>
              <a:t>x 10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991870" y="5279390"/>
            <a:ext cx="6035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调整触发电平</a:t>
            </a:r>
            <a:r>
              <a:rPr lang="en-US" altLang="zh-CN"/>
              <a:t>-&gt;</a:t>
            </a:r>
            <a:r>
              <a:rPr lang="zh-CN" altLang="en-US"/>
              <a:t>得到稳定波形</a:t>
            </a:r>
            <a:r>
              <a:rPr lang="en-US" altLang="zh-CN"/>
              <a:t>-&gt;</a:t>
            </a:r>
            <a:r>
              <a:rPr lang="zh-CN" altLang="en-US"/>
              <a:t>调</a:t>
            </a:r>
            <a:r>
              <a:rPr lang="en-US" altLang="zh-CN"/>
              <a:t>Time/Div</a:t>
            </a:r>
            <a:r>
              <a:rPr lang="zh-CN" altLang="en-US"/>
              <a:t>和采样</a:t>
            </a:r>
            <a:r>
              <a:rPr lang="zh-CN" altLang="en-US"/>
              <a:t>深度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40535" y="1532255"/>
            <a:ext cx="563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频率，幅值和高低</a:t>
            </a:r>
            <a:r>
              <a:rPr lang="zh-CN" altLang="en-US"/>
              <a:t>电平，直流偏</a:t>
            </a:r>
            <a:r>
              <a:rPr lang="zh-CN" altLang="en-US"/>
              <a:t>量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5065" y="746760"/>
            <a:ext cx="3532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信号发生器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77240" y="732155"/>
            <a:ext cx="3444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图像编码（像素</a:t>
            </a:r>
            <a:r>
              <a:rPr lang="zh-CN" altLang="en-US"/>
              <a:t>路径）</a:t>
            </a:r>
            <a:endParaRPr lang="zh-CN" altLang="en-US"/>
          </a:p>
        </p:txBody>
      </p:sp>
      <p:pic>
        <p:nvPicPr>
          <p:cNvPr id="2" name="图片 1" descr="屏幕截图 2026-07-31 1234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1320800"/>
            <a:ext cx="4933950" cy="26162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36955" y="4228465"/>
            <a:ext cx="40735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RGB</a:t>
            </a:r>
            <a:r>
              <a:rPr lang="zh-CN" altLang="en-US"/>
              <a:t>像素</a:t>
            </a:r>
            <a:r>
              <a:rPr lang="en-US" altLang="zh-CN"/>
              <a:t>-&gt;0/1</a:t>
            </a:r>
            <a:r>
              <a:rPr lang="zh-CN" altLang="en-US"/>
              <a:t>比特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img</a:t>
            </a:r>
            <a:r>
              <a:rPr lang="zh-CN" altLang="en-US"/>
              <a:t>：</a:t>
            </a:r>
            <a:r>
              <a:rPr lang="en-US" altLang="zh-CN"/>
              <a:t>HxWx3</a:t>
            </a:r>
            <a:r>
              <a:rPr lang="zh-CN" altLang="en-US"/>
              <a:t>，</a:t>
            </a:r>
            <a:r>
              <a:rPr lang="en-US" altLang="zh-CN"/>
              <a:t>unit8   </a:t>
            </a:r>
            <a:r>
              <a:rPr lang="zh-CN" altLang="en-US"/>
              <a:t>比特数为</a:t>
            </a:r>
            <a:r>
              <a:rPr lang="en-US" altLang="zh-CN"/>
              <a:t>3xHxW</a:t>
            </a:r>
            <a:r>
              <a:rPr lang="en-US" altLang="zh-CN"/>
              <a:t>x8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546850" y="1100455"/>
            <a:ext cx="357822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流程：</a:t>
            </a:r>
            <a:endParaRPr lang="zh-CN" altLang="en-US"/>
          </a:p>
          <a:p>
            <a:r>
              <a:rPr lang="zh-CN" altLang="en-US"/>
              <a:t>图（可以不是</a:t>
            </a:r>
            <a:r>
              <a:rPr lang="en-US" altLang="zh-CN"/>
              <a:t>jpg</a:t>
            </a:r>
            <a:r>
              <a:rPr lang="zh-CN" altLang="en-US"/>
              <a:t>格式）</a:t>
            </a:r>
            <a:r>
              <a:rPr lang="en-US" altLang="zh-CN"/>
              <a:t>-&gt;</a:t>
            </a:r>
            <a:r>
              <a:rPr lang="zh-CN" altLang="en-US"/>
              <a:t>像素点</a:t>
            </a:r>
            <a:r>
              <a:rPr lang="en-US" altLang="zh-CN"/>
              <a:t>-&gt;</a:t>
            </a:r>
            <a:r>
              <a:rPr lang="zh-CN" altLang="en-US"/>
              <a:t>比特流</a:t>
            </a:r>
            <a:r>
              <a:rPr lang="en-US" altLang="zh-CN"/>
              <a:t>-&gt;</a:t>
            </a:r>
            <a:r>
              <a:rPr lang="zh-CN" altLang="en-US"/>
              <a:t>像素点</a:t>
            </a:r>
            <a:r>
              <a:rPr lang="en-US" altLang="zh-CN"/>
              <a:t>-&gt;</a:t>
            </a:r>
            <a:r>
              <a:rPr lang="zh-CN" altLang="en-US"/>
              <a:t>图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有误码会导致图片有花点，但不会打不开图片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25780" y="5880100"/>
            <a:ext cx="11176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压缩比特路径：图片压缩（损失部分细节）形成</a:t>
            </a:r>
            <a:r>
              <a:rPr lang="en-US" altLang="zh-CN"/>
              <a:t>jpg</a:t>
            </a:r>
            <a:r>
              <a:rPr lang="zh-CN" altLang="en-US"/>
              <a:t>格式的</a:t>
            </a:r>
            <a:r>
              <a:rPr lang="en-US" altLang="zh-CN"/>
              <a:t>0/1</a:t>
            </a:r>
            <a:r>
              <a:rPr lang="zh-CN" altLang="en-US"/>
              <a:t>码流（已保存各种信息）</a:t>
            </a:r>
            <a:r>
              <a:rPr lang="en-US" altLang="zh-CN"/>
              <a:t>-&gt;</a:t>
            </a:r>
            <a:r>
              <a:rPr lang="zh-CN" altLang="en-US"/>
              <a:t>通信</a:t>
            </a:r>
            <a:r>
              <a:rPr lang="en-US" altLang="zh-CN"/>
              <a:t>-&gt;</a:t>
            </a:r>
            <a:r>
              <a:rPr lang="zh-CN" altLang="en-US"/>
              <a:t>得到</a:t>
            </a:r>
            <a:r>
              <a:rPr lang="zh-CN" altLang="en-US"/>
              <a:t>码流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3222</Words>
  <Application>WPS 演示</Application>
  <PresentationFormat>宽屏</PresentationFormat>
  <Paragraphs>252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Cambria Math</vt:lpstr>
      <vt:lpstr>黑体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蓝俊涛</dc:creator>
  <cp:lastModifiedBy>蓝俊涛</cp:lastModifiedBy>
  <cp:revision>25</cp:revision>
  <dcterms:created xsi:type="dcterms:W3CDTF">2023-08-09T12:44:00Z</dcterms:created>
  <dcterms:modified xsi:type="dcterms:W3CDTF">2026-08-03T02:25:44Z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18A0D7A73E6242C5B65584461BB85EEF_12</vt:lpwstr>
  </property>
</Properties>
</file>