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06" y="384"/>
      </p:cViewPr>
      <p:guideLst>
        <p:guide orient="horz" pos="215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246.000 882.000,'0.000'0.000,"0.000"0.000,0.000 0.000,0.000 0.000,0.000 0.000,0.000 13.000,0.000 0.000,0.000 1.000,13.000 12.000,-13.000 1.000,0.000-1.000,0.000 14.000,0.000-1.000,0.000 14.000,0.000-26.000,0.000 13.000,13.000-14.000,-13.000 14.000,0.000 13.000,0.000 0.000,0.000 26.000,13.000-13.000,-13.000 14.000,0.000 12.000,13.000 1.000,-13.000-14.000,13.000 14.000,-1.000 13.000,1.000 39.000,-13.000 14.000,13.000-53.000,-13.000 0.000,13.000-1.000,-13.000-12.000,13.000 0.000,-13.000 13.000,13.000-1.000,-13.000-38.000,0.000 12.000,13.000 40.000,0.000 13.000,0.000-26.000,0.000-13.000,-1.000-1.000,14.000 14.000,-13.000 0.000,13.000 0.000,-13.000-13.000,13.000-1.000,-1.000 1.000,-12.000-14.000,13.000-13.000,-13.000 1.000,0.000-14.000,0.000-14.000,0.000-12.000,-13.000-1.000,13.000-13.000,-13.000 1.000,0.000-14.000,0.000 13.000,0.000-13.000,0.000 0.000,0.000 13.000,13.000-13.000,-13.000 13.000,0.000-13.000,0.000 0.000,12.000 14.000,-12.000-14.000,0.000 13.000,13.000 0.000,-13.000-13.000,0.000 0.000,13.000 13.000,-13.000 14.000,0.000-14.000,0.000 0.000,0.000 0.000,0.000 14.000,0.000-14.000,13.000 14.000,-13.000-14.000,0.000 0.000,0.000 0.000,0.000 0.000,-13.000 1.000,13.000-1.000,0.000 0.000,0.000-13.000,0.000 13.000,0.000-13.000,0.000 14.000,0.000-14.000,0.000 13.000,0.000-13.000,0.000 13.000,0.000-13.000,0.000 13.000,0.000 1.000,-13.000-14.000,13.000 13.000,0.000-13.000,0.000 0.000,-13.000 0.000,1.000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911.000 855.000,'-13.000'0.000,"13.000"0.000,0.000 0.000,0.000 0.000,0.000 0.000,-13.000 0.000,13.000 13.000,0.000-13.000,0.000 0.000,-13.000 13.000,0.000 14.000,0.000-14.000,0.000 13.000,0.000 1.000,0.000-1.000,0.000 14.000,0.000-14.000,0.000 14.000,0.000-14.000,13.000 14.000,-13.000-1.000,0.000 1.000,0.000-1.000,0.000 1.000,0.000 26.000,0.000-13.000,13.000 0.000,-13.000 13.000,13.000-14.000,-13.000 1.000,13.000 13.000,0.000 13.000,-13.000 93.000,13.000 26.000,-13.000-53.000,13.000 0.000,0.000 0.000,0.000 14.000,-12.000-1.000,12.000-132.000,0.000 93.000,0.000 0.000,-13.000-14.000,13.000-12.000,0.000-1.000,0.000 1.000,0.000-1.000,-13.000-26.000,13.000 13.000,0.000 0.000,-13.000-13.000,13.000 13.000,-13.000 1.000,0.000-1.000,13.000 0.000,-13.000-13.000,13.000 13.000,-13.000 0.000,13.000 14.000,-13.000 12.000,13.000-12.000,0.000 12.000,-13.000-26.000,13.000 14.000,-13.000-14.000,13.000-13.000,0.000-27.000,-13.000 14.000,0.000-13.000,13.000-1.000,-13.000 1.000,0.000-1.000,13.000-12.000,-13.000-14.000,13.000 13.000,-13.000 1.000,13.000-14.000,-13.000 0.000,13.000 14.000,0.000-14.000,0.000 13.000,0.000-13.000,0.000 1.000,-13.000-1.000,13.000 0.000,0.000 0.000,0.000-13.000,0.000 13.000,-13.000-13.000,13.000 0.000,0.000 0.000,0.000 0.000,0.000 0.000,-13.000 0.000,13.000 0.000,0.000 14.000,0.000-14.000,0.000 0.000,-13.000 0.000,13.000 0.000,0.000 0.000,0.000 0.000,0.000 0.000,-13.000 0.000,13.000 0.000,0.000 13.000,0.000-13.000,0.000 0.000,-13.000 0.000,13.000 0.000,0.000 0.000,0.000 0.000,-13.000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296.000 5614.000,'0.000'0.000,"0.000"0.000,0.000 0.000,0.000 0.000,13.000 0.000,-13.000-13.000,0.000 13.000,13.000 0.000,1.000 0.000,-1.000-13.000,0.000-1.000,0.000-12.000,-13.000 26.000,26.000-53.000,27.000 1.000,13.000-53.000,0.000-1.000,0.000 1.000,0.000 0.000,0.000-1.000,26.000-38.000,-13.000-14.000,0.000 26.000,13.000-39.000,27.000-39.000,-1.000-14.000,-39.000 79.000,0.000 1.000,-13.000 25.000,13.000-26.000,-13.000 14.000,-53.000 105.000,27.000-53.000,-1.000 0.000,27.000-40.000,0.000 1.000,-26.000 26.000,-1.000 13.000,-12.000 26.000,-1.000 1.000,0.000-1.000,1.000 0.000,-1.000 1.000,0.000 12.000,-12.000 1.000,-1.000 12.000,13.000-12.000,-13.000 13.000,0.000-1.000,1.000-12.000,-1.000 12.000,0.000 1.000,-13.000 0.000,13.000 13.000,-13.000-14.000,13.000 14.000,-13.000-13.000,13.000 0.000,1.000 12.000,-14.000 1.000,0.000-13.000,13.000 13.000,0.000-14.000,0.000 14.000,-13.000 0.000,27.000-26.000,-14.000 12.000,13.000 1.000,-13.000-13.000,14.000 12.000,-14.000-12.000,13.000-1.000,0.000 14.000,1.000-13.000,-14.000 12.000,13.000 1.000,-13.000 0.000,14.000-1.000,-1.000 1.000,14.000 0.000,-14.000-1.000,0.000 14.000,1.000-13.000,-1.000 13.000,14.000-14.000,-14.000 14.000,0.000 0.000,1.000-13.000,-14.000 13.000,13.000-1.000,1.000-12.000,-14.000 13.000,13.000 0.000,0.000-13.000,-12.000 12.000,12.000-12.000,0.000 13.000,-12.000-13.000,12.000 12.000,-13.000 1.000,13.000 0.000,-12.000 0.000,-1.000 0.000,66.000-53.000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329.000 872.000,'0.000'0.000,"0.000"0.000,0.000 0.000,0.000 13.000,13.000-13.000,-13.000 13.000,13.000-13.000,-13.000 14.000,13.000-1.000,-13.000 13.000,14.000-13.000,-1.000 14.000,0.000 12.000,-13.000-12.000,26.000 12.000,-13.000-12.000,0.000 12.000,14.000 27.000,12.000 0.000,-13.000 0.000,14.000 0.000,-14.000 0.000,0.000-13.000,1.000-1.000,-1.000 1.000,0.000 0.000,-13.000 0.000,14.000-1.000,-1.000 14.000,-13.000 13.000,13.000-13.000,-13.000 14.000,14.000-14.000,-14.000-1.000,0.000 1.000,13.000-13.000,-13.000 13.000,0.000-13.000,14.000 26.000,-1.000-13.000,0.000 26.000,1.000-13.000,12.000 27.000,0.000-14.000,-12.000-13.000,12.000 14.000,0.000-14.000,1.000-13.000,-14.000 13.000,14.000-13.000,-14.000-13.000,0.000-1.000,0.000 1.000,14.000 0.000,-27.000-14.000,13.000 14.000,0.000-13.000,-12.000-1.000,-1.000-12.000,0.000-1.000,0.000 0.000,0.000 1.000,0.000-14.000,0.000 13.000,1.000 14.000,-1.000 0.000,0.000-14.000,-13.000 13.000,13.000-12.000,0.000 12.000,-13.000-12.000,13.000-1.000,-13.000 1.000,13.000-1.000,-13.000 0.000,13.000-13.000,-13.000 14.000,14.000 12.000,-1.000-12.000,-13.000-1.000,13.000-13.000,-13.000 14.000,13.000 12.000,0.000 1.000,13.000 13.000,-12.000-1.000,12.000-12.000,-13.000 13.000,13.000-14.000,1.000 14.000,-14.000-27.000,0.000 14.000,0.000-14.000,0.000 1.000,-13.000-14.000,13.000 13.000,0.000 1.000,-13.000-1.000,13.000-13.000,-13.000 0.000,0.000-13.000,14.000 14.000,-14.000-14.000,26.000 13.000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434.000 872.000,'0.000'0.000,"0.000"0.000,0.000 0.000,0.000 0.000,0.000 0.000,0.000 0.000,13.000 0.000,-13.000 0.000,0.000 0.000,13.000 0.000,-13.000 0.000,0.000 13.000,14.000 0.000,-14.000 1.000,0.000-1.000,0.000 13.000,13.000 27.000,-13.000 0.000,0.000-14.000,0.000 27.000,13.000-13.000,-13.000 13.000,0.000 0.000,13.000 0.000,-13.000 52.000,14.000 1.000,-14.000 0.000,13.000-40.000,-13.000-13.000,13.000 79.000,0.000-14.000,-13.000-25.000,13.000-1.000,-13.000-12.000,14.000-14.000,-14.000 13.000,0.000 13.000,13.000 14.000,0.000-27.000,-13.000 1.000,0.000-1.000,13.000-39.000,-13.000-1.000,0.000 28.000,0.000-1.000,0.000-27.000,13.000 1.000,-13.000 0.000,0.000-27.000,0.000 1.000,0.000 12.000,0.000 1.000,0.000-14.000,0.000 27.000,0.000-14.000,0.000 14.000,0.000-13.000,0.000-27.000,0.000 13.000,0.000 14.000,0.000-14.000,0.000 0.000,0.000 1.000,0.000-1.000,0.000 1.000,0.000-1.000,0.000-26.000,0.000 40.000,0.000-14.000,0.000 13.000,0.000-12.000,0.000-1.000,0.000 1.000,0.000-1.000,0.000 0.000,0.000-13.000,0.000 14.000,0.000-1.000,0.000-13.000,0.000 14.000,0.000-14.000,14.000 0.000,-14.000 0.000,0.000 0.000,0.000-13.000,0.000 14.000,0.000-1.000,0.000 0.000,13.000 0.000,-13.000 0.000,0.000 14.000,0.000-27.000,13.000 13.000,-13.000 13.000,0.000-12.000,13.000 12.000,-13.000-13.000,0.000 0.000,0.000 0.000,0.000 1.000,0.000 12.000,0.000-13.000,0.000 0.000,14.000-13.000,-14.000 14.000,0.000-1.000,0.000 0.000,0.000-13.000,0.000 0.000,0.000 13.000,0.000-13.000,0.000 13.000,13.000-13.000,-13.000 13.000,0.000 14.000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466.000 5261.000,'0.000'-13.000,"0.000"13.000,0.000 0.000,0.000 0.000,0.000-13.000,13.000 13.000,-13.000-14.000,0.000 14.000,13.000-13.000,-13.000 0.000,13.000 13.000,-13.000-13.000,0.000 0.000,14.000 0.000,-14.000-14.000,13.000 14.000,0.000-26.000,0.000 12.000,0.000-12.000,0.000-14.000,14.000 1.000,-1.000-14.000,0.000-13.000,-13.000 40.000,27.000-40.000,-14.000 0.000,14.000 0.000,-1.000 0.000,1.000 0.000,12.000-26.000,1.000 0.000,-14.000 26.000,1.000 13.000,-1.000-13.000,14.000 0.000,0.000-13.000,-1.000 26.000,-12.000 1.000,-1.000 12.000,1.000-13.000,-1.000 0.000,14.000-26.000,12.000-13.000,-25.000 26.000,13.000 0.000,-14.000 14.000,0.000-14.000,14.000 13.000,-13.000-13.000,12.000 0.000,-12.000 0.000,-14.000 40.000,0.000-1.000,1.000-12.000,-1.000 12.000,0.000 1.000,-13.000-1.000,1.000 14.000,-1.000 13.000,0.000-13.000,0.000-1.000,0.000 1.000,0.000 0.000,0.000-1.000,-13.000 1.000,14.000 13.000,-1.000-13.000,0.000 12.000,-13.000 1.000,13.000 0.000,0.000 0.000,-13.000 0.000,0.000 0.000,13.000 13.000,-13.000-13.000,0.000-1.000,0.000 1.000,14.000 0.000,-14.000 13.000,0.000-13.000,13.000 0.000,-13.000 0.000,13.000-14.000,0.000 1.000,-13.000 0.000,13.000-1.000,0.000 1.000,0.000 0.000,1.000-1.000,-1.000 1.000,0.000 0.000,13.000-14.000,-13.000 14.000,14.000-13.000,-14.000 12.000,0.000 14.000,0.000-13.000,-13.000 13.000,13.000-14.000,0.000 14.000,-13.000 0.000,14.000-13.000,-1.000 13.000,0.000-14.000,0.000 14.000,0.000-13.000,0.000 13.000,14.000-14.000,-14.000-12.000,13.000 13.000,-13.000-1.000,1.000 14.000,12.000-13.000,-13.000 0.000,0.000-1.000,0.000 1.000,0.000 13.000,1.000-13.000,-1.000-1.000,0.000 1.000,0.000 0.000,0.000-1.000,0.000 14.000,1.000 0.000,-14.000 0.000,13.000 0.000,-13.000 0.000,0.000-1.000,13.000 1.000,-13.000-13.000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254.000 880.000,'0.000'0.000,"0.000"0.000,0.000 0.000,0.000 0.000,13.000 0.000,-13.000 0.000,13.000 0.000,-13.000 0.000,14.000 0.000,-14.000 0.000,13.000 0.000,0.000 13.000,-13.000-13.000,13.000 13.000,0.000-13.000,-13.000 0.000,14.000 14.000,-1.000-14.000,0.000 13.000,0.000 0.000,14.000 14.000,-14.000-14.000,13.000 13.000,-13.000-13.000,14.000 27.000,-1.000-13.000,0.000-1.000,1.000 1.000,-1.000-1.000,14.000 14.000,-1.000 13.000,1.000-1.000,13.000 1.000,-14.000-13.000,14.000 13.000,0.000 13.000,-13.000-13.000,12.000 0.000,-25.000-27.000,-1.000 1.000,14.000 13.000,-14.000-1.000,0.000 1.000,14.000-14.000,13.000 40.000,0.000 1.000,-14.000-15.000,14.000-12.000,-13.000 13.000,-1.000-13.000,-12.000-1.000,-1.000-12.000,0.000-1.000,14.000 14.000,-14.000-14.000,1.000 14.000,12.000 0.000,1.000 0.000,13.000 12.000,-14.000 1.000,1.000-13.000,-14.000 0.000,14.000-14.000,-14.000 14.000,14.000-1.000,-14.000-12.000,1.000 13.000,-1.000-14.000,0.000 1.000,-12.000-14.000,25.000 26.000,1.000 1.000,-14.000-13.000,14.000 12.000,-14.000-12.000,1.000-1.000,-1.000-13.000,13.000 14.000,1.000 13.000,-14.000-27.000,1.000 13.000,12.000-13.000,-25.000 14.000,12.000-14.000,0.000 14.000,1.000-14.000,-14.000 0.000,13.000 0.000,-12.000-13.000,-1.000 13.000,0.000 1.000,0.000-1.000,14.000 0.000,-1.000 0.000,-13.000 1.000,0.000-1.000,1.000 0.000,12.000 0.000,0.000 1.000,-12.000-1.000,12.000 13.000,0.000-13.000,1.000 1.000,-1.000 12.000,0.000-13.000,-12.000 14.000,12.000-14.000,0.000 0.000,1.000 14.000,-1.000-14.000,-13.000 0.000,14.000 14.000,-1.000-14.000,1.000 0.000,-14.000 13.000,13.000-12.000,14.000 12.000,-27.000 1.000,13.000-14.000,1.000 13.000,-14.000-12.000,13.000 12.000,1.000 0.000,-1.000-12.000,1.000 12.000,-1.000 1.000,13.000-1.000,-12.000-13.000,-1.000 14.000,1.000-1.000,12.000 1.000,-12.000-1.000,-1.000 1.000,14.000-1.000,-1.000 14.000,1.000-14.000,-1.000 1.000,-12.000-1.000,-1.000 0.000,1.000 1.000,-14.000-14.000,0.000 0.000,0.000 1.000,14.000 12.000,-14.000-13.000,0.000 0.000,0.000 1.000,0.000-1.000,1.000 0.000,-1.000 0.000,0.000 1.000,0.000-1.000,13.000 0.000,-12.000 0.000,12.000 1.000,-13.000-1.000,14.000 0.000,-14.000 0.000,0.000 0.000,0.000 1.000,0.000-1.000,-13.000 0.000,14.000-13.000,-14.000 13.000,13.000-13.000,0.000 14.000,13.000-1.000,-12.000 0.000,12.000 13.000,0.000-12.000,1.000-1.000,-1.000 13.000,-13.000-12.000,14.000-1.000,-1.000 0.000,-13.000 0.000,14.000 1.000,-14.000-1.000,0.000-13.000,0.000 13.000,14.000 0.000,-14.000-13.000,0.000 13.000,14.000-13.000,-14.000 14.000,0.000-1.000,13.000 0.000,14.000 0.000,13.000 1.000,-14.000 12.000,27.000-13.000,-39.000 14.000,25.000-14.000,1.000 13.000,0.000 1.000,0.000-14.000,-14.000 0.000,-12.000 14.000,12.000-14.000,-12.000 0.000,-1.000-13.000,0.000 13.000,-12.000-13.000,-14.000 0.000,13.000 0.000,-13.000 0.000,0.000 0.000,0.000 0.000,0.000 0.000,0.000 0.000,13.000 14.000,-13.000-14.000,13.000 0.000,-13.000 0.000,13.000 13.000,1.000-13.000,-1.000 0.000,0.000 13.000,0.000-13.000,0.000 0.000,-13.000 13.000,14.000-13.000,-14.000 0.000,13.000 0.000,-13.000 0.000,13.000 14.000,-13.000-14.000,53.000 13.000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680.000 5198.000,'0.000'-13.000,"0.000"13.000,0.000 0.000,0.000 0.000,0.000 0.000,0.000 0.000,0.000 0.000,0.000-13.000,0.000 13.000,0.000 0.000,0.000 0.000,0.000-14.000,0.000 14.000,0.000 0.000,0.000 0.000,0.000-13.000,0.000 13.000,0.000 0.000,0.000 0.000,0.000-13.000,0.000 13.000,13.000-13.000,-13.000 0.000,0.000-14.000,0.000 14.000,0.000-13.000,13.000 0.000,-13.000-1.000,14.000-25.000,-14.000 12.000,13.000-12.000,0.000 12.000,-13.000-25.000,13.000 12.000,1.000-13.000,-14.000 14.000,13.000-1.000,-13.000 0.000,13.000 1.000,-13.000-14.000,13.000 13.000,1.000 1.000,-14.000 12.000,0.000 1.000,13.000-14.000,0.000 14.000,-13.000-1.000,13.000-12.000,0.000 12.000,-13.000 14.000,14.000-13.000,-14.000-1.000,13.000 14.000,-13.000-1.000,13.000 1.000,0.000 0.000,-13.000 13.000,0.000-14.000,14.000 14.000,-14.000-13.000,13.000 0.000,-13.000-1.000,0.000 1.000,13.000 0.000,-13.000 13.000,0.000-14.000,0.000 1.000,13.000-13.000,-13.000 25.000,0.000 1.000,14.000-26.000,-14.000-1.000,13.000 14.000,-13.000-13.000,13.000-1.000,-13.000 14.000,13.000 13.000,-13.000-14.000,0.000 1.000,13.000 0.000,-13.000-14.000,14.000 14.000,-14.000 0.000,13.000-1.000,-13.000 14.000,0.000-13.000,0.000-14.000,13.000 1.000,0.000 0.000,-13.000 12.000,14.000-12.000,-14.000 26.000,13.000-14.000,-13.000 1.000,0.000 13.000,13.000-13.000,-13.000-14.000,13.000 1.000,1.000 12.000,-14.000 1.000,13.000-13.000,0.000-1.000,-13.000 27.000,13.000-26.000,-13.000 12.000,13.000-12.000,1.000-1.000,-1.000 1.000,0.000-1.000,-13.000 14.000,13.000-13.000,1.000 12.000,-1.000 1.000,-13.000 0.000,13.000 13.000,-13.000-1.000,0.000-12.000,13.000 13.000,-13.000-13.000,0.000 26.000,13.000-27.000,1.000 1.000,-14.000 0.000,13.000 0.000,-13.000-1.000,13.000-12.000,0.000 12.000,1.000 1.000,-14.000 0.000,13.000 0.000,-13.000 12.000,13.000-12.000,-13.000 13.000,13.000 0.000,-13.000-14.000,14.000 14.000,-14.000-13.000,13.000 13.000,-13.000 0.000,0.000 0.000,13.000-1.000,-13.000-12.000,0.000 13.000,13.000 0.000,-13.000 0.000,0.000 0.000,0.000-1.000,13.000 1.000,-13.000-13.000,0.000 13.000,14.000-14.000,-14.000 14.000,0.000 0.000,13.000-13.000,-13.000 13.000,0.000 0.000,0.000 13.000,0.000-14.000,13.000 14.000,-13.000-13.000,0.000 0.000,0.000 13.000,0.000 0.000,0.000-13.000,0.000 13.000,13.000-13.000,-13.000 13.000,0.000 0.000,0.000-13.000,0.000-1.000,0.000 14.000,0.000-13.000,14.000 0.000,-14.000 0.000,0.000 0.000,0.000 0.000,13.000-14.000,-13.000 14.000,0.000 0.000,13.000 0.000,-13.000-13.000,0.000 13.000,0.000-1.000,13.000 1.000,-13.000 0.000,0.000 13.000,0.000-13.000,0.000 13.000,0.000-13.000,0.000 13.000,0.000 0.000,0.000 0.000,0.000 0.000,0.000 0.000,0.000 0.000,0.000-13.000,0.000 13.000,0.000 0.000,14.000-14.000,-14.000 14.000,0.000 0.000,0.000-13.000,0.000 13.000,13.000-13.000,-13.000 13.000,0.000 0.000,0.000 0.000,0.000 0.000,0.000 0.000,0.000-13.000,0.000 13.000,0.000 0.000,0.000 0.000,0.000 0.000,0.000 0.000,0.000 0.000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3.xml"/><Relationship Id="rId7" Type="http://schemas.openxmlformats.org/officeDocument/2006/relationships/image" Target="../media/image5.png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1.png"/><Relationship Id="rId18" Type="http://schemas.openxmlformats.org/officeDocument/2006/relationships/customXml" Target="../ink/ink8.xml"/><Relationship Id="rId17" Type="http://schemas.openxmlformats.org/officeDocument/2006/relationships/image" Target="../media/image10.png"/><Relationship Id="rId16" Type="http://schemas.openxmlformats.org/officeDocument/2006/relationships/customXml" Target="../ink/ink7.xml"/><Relationship Id="rId15" Type="http://schemas.openxmlformats.org/officeDocument/2006/relationships/image" Target="../media/image9.png"/><Relationship Id="rId14" Type="http://schemas.openxmlformats.org/officeDocument/2006/relationships/customXml" Target="../ink/ink6.xml"/><Relationship Id="rId13" Type="http://schemas.openxmlformats.org/officeDocument/2006/relationships/image" Target="../media/image8.png"/><Relationship Id="rId12" Type="http://schemas.openxmlformats.org/officeDocument/2006/relationships/customXml" Target="../ink/ink5.xml"/><Relationship Id="rId11" Type="http://schemas.openxmlformats.org/officeDocument/2006/relationships/image" Target="../media/image7.png"/><Relationship Id="rId10" Type="http://schemas.openxmlformats.org/officeDocument/2006/relationships/customXml" Target="../ink/ink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9925" y="801370"/>
            <a:ext cx="3201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编码（属于前向纠错码）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55215" y="1654810"/>
            <a:ext cx="189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稀疏矩阵</a:t>
            </a:r>
            <a:r>
              <a:rPr lang="en-US" altLang="zh-CN"/>
              <a:t> H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96290" y="2508250"/>
            <a:ext cx="380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传输数据时加少量校验位，接受信号校验后，降低误码率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𝑚𝑜𝑑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blipFill rotWithShape="1">
                <a:blip r:embed="rId1"/>
                <a:stretch>
                  <a:fillRect l="-32" t="-70" r="32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6428740" y="1865630"/>
            <a:ext cx="2554605" cy="819150"/>
            <a:chOff x="11817" y="2938"/>
            <a:chExt cx="4023" cy="12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1817" y="3293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H=</a:t>
              </a:r>
              <a:endParaRPr lang="en-US" altLang="zh-CN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758305" y="1467485"/>
            <a:ext cx="3651885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6</a:t>
            </a:r>
            <a:r>
              <a:rPr lang="zh-CN" altLang="en-US"/>
              <a:t>位码比特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位信息位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位校验位）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83980" y="202311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个校验方程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48245" y="2879725"/>
            <a:ext cx="3844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信息位：从传入的比特流中读三位</a:t>
            </a:r>
            <a:endParaRPr lang="zh-CN" altLang="en-US"/>
          </a:p>
        </p:txBody>
      </p:sp>
      <p:cxnSp>
        <p:nvCxnSpPr>
          <p:cNvPr id="18" name="直接箭头连接符 17"/>
          <p:cNvCxnSpPr>
            <a:stCxn id="17" idx="2"/>
            <a:endCxn id="19" idx="0"/>
          </p:cNvCxnSpPr>
          <p:nvPr/>
        </p:nvCxnSpPr>
        <p:spPr>
          <a:xfrm flipH="1">
            <a:off x="9467215" y="3248025"/>
            <a:ext cx="3810" cy="1057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682230" y="4305935"/>
            <a:ext cx="3569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457200"/>
            <a:r>
              <a:rPr lang="zh-CN" altLang="en-US"/>
              <a:t>校验位</a:t>
            </a:r>
            <a:endParaRPr lang="zh-CN" altLang="en-US"/>
          </a:p>
          <a:p>
            <a:pPr marL="914400" lvl="2" indent="457200"/>
            <a:endParaRPr lang="zh-CN" altLang="en-US"/>
          </a:p>
          <a:p>
            <a:pPr marL="457200" lvl="1" indent="457200"/>
            <a:r>
              <a:rPr lang="zh-CN" altLang="en-US"/>
              <a:t>码字</a:t>
            </a:r>
            <a:r>
              <a:rPr lang="en-US" altLang="zh-CN"/>
              <a:t>=</a:t>
            </a:r>
            <a:r>
              <a:rPr lang="zh-CN" altLang="en-US"/>
              <a:t>信息位</a:t>
            </a:r>
            <a:r>
              <a:rPr lang="en-US" altLang="zh-CN"/>
              <a:t>+</a:t>
            </a:r>
            <a:r>
              <a:rPr lang="zh-CN" altLang="en-US"/>
              <a:t>校验位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980940" y="4071620"/>
            <a:ext cx="2965450" cy="2212340"/>
            <a:chOff x="1423" y="5959"/>
            <a:chExt cx="4670" cy="3484"/>
          </a:xfrm>
        </p:grpSpPr>
        <p:sp>
          <p:nvSpPr>
            <p:cNvPr id="20" name="文本框 19"/>
            <p:cNvSpPr txBox="1"/>
            <p:nvPr/>
          </p:nvSpPr>
          <p:spPr>
            <a:xfrm>
              <a:off x="1423" y="5959"/>
              <a:ext cx="7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v1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794" y="8797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c1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43" y="5959"/>
              <a:ext cx="7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v2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270" y="8863"/>
              <a:ext cx="7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c2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902" y="5959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v3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709" y="5959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v4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34" y="5959"/>
              <a:ext cx="6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v5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780" y="8797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c3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229" y="5959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v6</a:t>
              </a:r>
              <a:endParaRPr lang="en-US" altLang="zh-CN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4" p14:bwMode="auto">
              <p14:nvContentPartPr>
                <p14:cNvPr id="38" name="墨迹 37"/>
                <p14:cNvContentPartPr/>
                <p14:nvPr/>
              </p14:nvContentPartPr>
              <p14:xfrm>
                <a:off x="1845" y="6615"/>
                <a:ext cx="292" cy="2430"/>
              </p14:xfrm>
            </p:contentPart>
          </mc:Choice>
          <mc:Fallback xmlns="">
            <p:pic>
              <p:nvPicPr>
                <p:cNvPr id="38" name="墨迹 37"/>
              </p:nvPicPr>
              <p:blipFill>
                <a:blip r:embed="rId5"/>
              </p:blipFill>
              <p:spPr>
                <a:xfrm>
                  <a:off x="1845" y="6615"/>
                  <a:ext cx="292" cy="243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39" name="墨迹 38"/>
                <p14:cNvContentPartPr/>
                <p14:nvPr/>
              </p14:nvContentPartPr>
              <p14:xfrm>
                <a:off x="2257" y="6412"/>
                <a:ext cx="353" cy="2790"/>
              </p14:xfrm>
            </p:contentPart>
          </mc:Choice>
          <mc:Fallback xmlns="">
            <p:pic>
              <p:nvPicPr>
                <p:cNvPr id="39" name="墨迹 38"/>
              </p:nvPicPr>
              <p:blipFill>
                <a:blip r:embed="rId7"/>
              </p:blipFill>
              <p:spPr>
                <a:xfrm>
                  <a:off x="2257" y="6412"/>
                  <a:ext cx="353" cy="279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40" name="墨迹 39"/>
                <p14:cNvContentPartPr/>
                <p14:nvPr/>
              </p14:nvContentPartPr>
              <p14:xfrm>
                <a:off x="2220" y="6487"/>
                <a:ext cx="1740" cy="2700"/>
              </p14:xfrm>
            </p:contentPart>
          </mc:Choice>
          <mc:Fallback xmlns="">
            <p:pic>
              <p:nvPicPr>
                <p:cNvPr id="40" name="墨迹 39"/>
              </p:nvPicPr>
              <p:blipFill>
                <a:blip r:embed="rId9"/>
              </p:blipFill>
              <p:spPr>
                <a:xfrm>
                  <a:off x="2220" y="6487"/>
                  <a:ext cx="1740" cy="27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0" p14:bwMode="auto">
              <p14:nvContentPartPr>
                <p14:cNvPr id="41" name="墨迹 40"/>
                <p14:cNvContentPartPr/>
                <p14:nvPr/>
              </p14:nvContentPartPr>
              <p14:xfrm>
                <a:off x="2467" y="6540"/>
                <a:ext cx="983" cy="2415"/>
              </p14:xfrm>
            </p:contentPart>
          </mc:Choice>
          <mc:Fallback xmlns="">
            <p:pic>
              <p:nvPicPr>
                <p:cNvPr id="41" name="墨迹 40"/>
              </p:nvPicPr>
              <p:blipFill>
                <a:blip r:embed="rId11"/>
              </p:blipFill>
              <p:spPr>
                <a:xfrm>
                  <a:off x="2467" y="6540"/>
                  <a:ext cx="983" cy="241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2" p14:bwMode="auto">
              <p14:nvContentPartPr>
                <p14:cNvPr id="42" name="墨迹 41"/>
                <p14:cNvContentPartPr/>
                <p14:nvPr/>
              </p14:nvContentPartPr>
              <p14:xfrm>
                <a:off x="3255" y="6540"/>
                <a:ext cx="172" cy="2317"/>
              </p14:xfrm>
            </p:contentPart>
          </mc:Choice>
          <mc:Fallback xmlns="">
            <p:pic>
              <p:nvPicPr>
                <p:cNvPr id="42" name="墨迹 41"/>
              </p:nvPicPr>
              <p:blipFill>
                <a:blip r:embed="rId13"/>
              </p:blipFill>
              <p:spPr>
                <a:xfrm>
                  <a:off x="3255" y="6540"/>
                  <a:ext cx="172" cy="231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4" p14:bwMode="auto">
              <p14:nvContentPartPr>
                <p14:cNvPr id="43" name="墨迹 42"/>
                <p14:cNvContentPartPr/>
                <p14:nvPr/>
              </p14:nvContentPartPr>
              <p14:xfrm>
                <a:off x="3495" y="6420"/>
                <a:ext cx="1342" cy="2505"/>
              </p14:xfrm>
            </p:contentPart>
          </mc:Choice>
          <mc:Fallback xmlns="">
            <p:pic>
              <p:nvPicPr>
                <p:cNvPr id="43" name="墨迹 42"/>
              </p:nvPicPr>
              <p:blipFill>
                <a:blip r:embed="rId15"/>
              </p:blipFill>
              <p:spPr>
                <a:xfrm>
                  <a:off x="3495" y="6420"/>
                  <a:ext cx="1342" cy="250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6" p14:bwMode="auto">
              <p14:nvContentPartPr>
                <p14:cNvPr id="44" name="墨迹 43"/>
                <p14:cNvContentPartPr/>
                <p14:nvPr/>
              </p14:nvContentPartPr>
              <p14:xfrm>
                <a:off x="1905" y="6600"/>
                <a:ext cx="3022" cy="2482"/>
              </p14:xfrm>
            </p:contentPart>
          </mc:Choice>
          <mc:Fallback xmlns="">
            <p:pic>
              <p:nvPicPr>
                <p:cNvPr id="44" name="墨迹 43"/>
              </p:nvPicPr>
              <p:blipFill>
                <a:blip r:embed="rId17"/>
              </p:blipFill>
              <p:spPr>
                <a:xfrm>
                  <a:off x="1905" y="6600"/>
                  <a:ext cx="3022" cy="2482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8" p14:bwMode="auto">
              <p14:nvContentPartPr>
                <p14:cNvPr id="45" name="墨迹 44"/>
                <p14:cNvContentPartPr/>
                <p14:nvPr/>
              </p14:nvContentPartPr>
              <p14:xfrm>
                <a:off x="5100" y="6540"/>
                <a:ext cx="555" cy="2460"/>
              </p14:xfrm>
            </p:contentPart>
          </mc:Choice>
          <mc:Fallback xmlns="">
            <p:pic>
              <p:nvPicPr>
                <p:cNvPr id="45" name="墨迹 44"/>
              </p:nvPicPr>
              <p:blipFill>
                <a:blip r:embed="rId19"/>
              </p:blipFill>
              <p:spPr>
                <a:xfrm>
                  <a:off x="5100" y="6540"/>
                  <a:ext cx="555" cy="2460"/>
                </a:xfrm>
                <a:prstGeom prst="rect"/>
              </p:spPr>
            </p:pic>
          </mc:Fallback>
        </mc:AlternateContent>
      </p:grpSp>
      <p:sp>
        <p:nvSpPr>
          <p:cNvPr id="4" name="文本框 3"/>
          <p:cNvSpPr txBox="1"/>
          <p:nvPr/>
        </p:nvSpPr>
        <p:spPr>
          <a:xfrm>
            <a:off x="8559165" y="5409565"/>
            <a:ext cx="2363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接收端接受信号</a:t>
            </a:r>
            <a:r>
              <a:rPr lang="zh-CN" altLang="en-US"/>
              <a:t>译码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（硬译码</a:t>
            </a:r>
            <a:r>
              <a:rPr lang="en-US" altLang="zh-CN"/>
              <a:t>/</a:t>
            </a:r>
            <a:r>
              <a:rPr lang="zh-CN" altLang="en-US"/>
              <a:t>软译码）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8450" y="671195"/>
            <a:ext cx="95434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水下散射和吸收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海水，海水中的悬浮颗粒、浮游生物和其他杂质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海洋环境的高动态性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海水的温度、盐度、密度和流速，海水的浑浊度变化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水下平台的动态失稳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>
                <a:sym typeface="+mn-ea"/>
              </a:rPr>
              <a:t>潜水器、浮标、水下传感器节点等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背景光噪声影响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自然光源（如太阳光）和人造光源（如探照灯、水下照明设备等）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027545" y="590550"/>
            <a:ext cx="4117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信息传输被散射、发射机光功率受限（</a:t>
            </a:r>
            <a:r>
              <a:rPr lang="en-US" altLang="zh-CN"/>
              <a:t>LDPC-PS-64QAM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27545" y="2251075"/>
            <a:ext cx="2867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噪音的影响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PPM</a:t>
            </a:r>
            <a:r>
              <a:rPr lang="zh-CN" altLang="en-US"/>
              <a:t>与强度双重调制）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3088" y="5193792"/>
            <a:ext cx="95714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多途扩展，幅度起伏，</a:t>
            </a:r>
            <a:r>
              <a:rPr lang="zh-CN" altLang="en-US" dirty="0"/>
              <a:t>频率选择性衰弱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多普勒频移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40224" y="5504688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选择铅直信道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24305" y="897890"/>
            <a:ext cx="2465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一般</a:t>
            </a:r>
            <a:r>
              <a:rPr lang="en-US" altLang="zh-CN"/>
              <a:t>LDPC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98470" y="897890"/>
            <a:ext cx="331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采用</a:t>
            </a:r>
            <a:r>
              <a:rPr lang="en-US" altLang="zh-CN"/>
              <a:t>QC-LDPC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416810" y="1266190"/>
            <a:ext cx="8280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硬件不友好</a:t>
            </a:r>
            <a:endParaRPr lang="zh-CN" altLang="en-US"/>
          </a:p>
        </p:txBody>
      </p:sp>
      <p:cxnSp>
        <p:nvCxnSpPr>
          <p:cNvPr id="7" name="直接箭头连接符 6"/>
          <p:cNvCxnSpPr>
            <a:endCxn id="5" idx="1"/>
          </p:cNvCxnSpPr>
          <p:nvPr/>
        </p:nvCxnSpPr>
        <p:spPr>
          <a:xfrm flipV="1">
            <a:off x="2515235" y="10820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638675" y="10693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9620" y="1266190"/>
            <a:ext cx="855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易形成短链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89245" y="897890"/>
            <a:ext cx="3780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方案</a:t>
            </a:r>
            <a:r>
              <a:rPr lang="zh-CN" altLang="en-US"/>
              <a:t>一：基于</a:t>
            </a:r>
            <a:r>
              <a:rPr lang="en-US" altLang="zh-CN"/>
              <a:t>Stanley</a:t>
            </a:r>
            <a:r>
              <a:rPr lang="zh-CN" altLang="en-US"/>
              <a:t>序列与遗传算法的短码长</a:t>
            </a:r>
            <a:r>
              <a:rPr lang="en-US" altLang="zh-CN"/>
              <a:t>QC-LDPC</a:t>
            </a:r>
            <a:r>
              <a:rPr lang="zh-CN" altLang="en-US"/>
              <a:t>码构造方法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71345" y="3033395"/>
            <a:ext cx="2282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和</a:t>
            </a:r>
            <a:r>
              <a:rPr lang="en-US" altLang="zh-CN"/>
              <a:t>QC-LDPC</a:t>
            </a:r>
            <a:r>
              <a:rPr lang="zh-CN" altLang="en-US"/>
              <a:t>区别在于矩阵的形式</a:t>
            </a:r>
            <a:endParaRPr lang="zh-CN" altLang="en-US"/>
          </a:p>
          <a:p>
            <a:r>
              <a:rPr lang="zh-CN" altLang="en-US"/>
              <a:t>稀疏</a:t>
            </a:r>
            <a:r>
              <a:rPr lang="en-US" altLang="zh-CN"/>
              <a:t> VS 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5899"/>
          <a:stretch>
            <a:fillRect/>
          </a:stretch>
        </p:blipFill>
        <p:spPr>
          <a:xfrm>
            <a:off x="2832735" y="3721100"/>
            <a:ext cx="3644900" cy="12966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2985" y="385445"/>
            <a:ext cx="215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5.LDPC</a:t>
            </a:r>
            <a:r>
              <a:rPr lang="zh-CN" altLang="en-US"/>
              <a:t>矩阵形式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35600" y="1739265"/>
            <a:ext cx="3636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方案二：</a:t>
            </a:r>
            <a:r>
              <a:rPr lang="en-US" altLang="zh-CN"/>
              <a:t>Dayan </a:t>
            </a:r>
            <a:r>
              <a:rPr lang="zh-CN" altLang="en-US"/>
              <a:t>序列构造</a:t>
            </a:r>
            <a:r>
              <a:rPr lang="en-US" altLang="zh-CN"/>
              <a:t> QC-LDPC </a:t>
            </a:r>
            <a:r>
              <a:rPr lang="zh-CN" altLang="en-US"/>
              <a:t>校验矩阵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44930" y="927100"/>
            <a:ext cx="4504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6. </a:t>
            </a:r>
            <a:r>
              <a:rPr lang="zh-CN" altLang="en-US"/>
              <a:t>译码</a:t>
            </a:r>
            <a:r>
              <a:rPr lang="en-US" altLang="zh-CN"/>
              <a:t>LLR</a:t>
            </a:r>
            <a:r>
              <a:rPr lang="zh-CN" altLang="en-US"/>
              <a:t>软信息的计算繁琐（</a:t>
            </a:r>
            <a:r>
              <a:rPr lang="en-US" altLang="zh-CN"/>
              <a:t>2016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在低阶</a:t>
            </a:r>
            <a:r>
              <a:rPr lang="en-US" altLang="zh-CN"/>
              <a:t>PPM</a:t>
            </a:r>
            <a:r>
              <a:rPr lang="zh-CN" altLang="en-US"/>
              <a:t>时，简化用某一时隙内的功率代替该时隙的似然比来近似计算后验概率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25085" y="5886831"/>
            <a:ext cx="1850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光源：</a:t>
            </a:r>
            <a:r>
              <a:rPr lang="en-US" altLang="zh-CN" dirty="0"/>
              <a:t>LD   LED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4340" y="422275"/>
            <a:ext cx="83604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光模块：无源光器件、有源光器件（光芯片、激光器、探测器）</a:t>
            </a:r>
            <a:endParaRPr lang="zh-CN" altLang="en-US"/>
          </a:p>
          <a:p>
            <a:pPr marL="457200" lvl="1" indent="457200"/>
            <a:r>
              <a:rPr lang="zh-CN" altLang="en-US"/>
              <a:t>光发射组件（含激光器）、光接收组件（含探测器）、驱动电路和光电接口等组成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01074" y="2506980"/>
            <a:ext cx="24993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zh-CN" sz="1400" dirty="0"/>
              <a:t>激光驱动芯片 LD Driver / LED 驱动芯片</a:t>
            </a:r>
            <a:r>
              <a:rPr lang="zh-CN" altLang="en-US" sz="1400" dirty="0"/>
              <a:t>（</a:t>
            </a:r>
            <a:r>
              <a:rPr lang="zh-CN" altLang="zh-CN" sz="1400" dirty="0"/>
              <a:t>将 FPGA 输出的弱数字逻辑电平，转换成大驱动电流，给光源供电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zh-CN" sz="1400" dirty="0"/>
              <a:t>偏置控制电路（APC 自动功率控制）</a:t>
            </a:r>
            <a:r>
              <a:rPr lang="zh-CN" altLang="en-US" sz="1400" dirty="0"/>
              <a:t>（</a:t>
            </a:r>
            <a:r>
              <a:rPr lang="zh-CN" altLang="zh-CN" sz="1400" dirty="0"/>
              <a:t>监测 PD 的光功率，动态调节驱动偏置电流，稳定平均输出光功率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zh-CN" sz="1400" dirty="0"/>
              <a:t>背光监测光电二极管（Monitor PD）</a:t>
            </a:r>
            <a:r>
              <a:rPr lang="zh-CN" altLang="en-US" sz="1400" dirty="0"/>
              <a:t>（</a:t>
            </a:r>
            <a:r>
              <a:rPr lang="zh-CN" altLang="zh-CN" sz="1400" dirty="0"/>
              <a:t>将光功率转为电流，反馈给 APC 电路做闭环功率稳定。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APC+PD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4</a:t>
            </a:r>
            <a:r>
              <a:rPr lang="zh-CN" altLang="zh-CN" sz="1400" dirty="0"/>
              <a:t>均衡 / 阻抗匹配电路</a:t>
            </a:r>
            <a:r>
              <a:rPr lang="zh-CN" altLang="en-US" sz="1400" dirty="0"/>
              <a:t>（</a:t>
            </a:r>
            <a:r>
              <a:rPr lang="zh-CN" altLang="zh-CN" sz="1400" dirty="0"/>
              <a:t>高速信号下匹配 50Ω 传输阻抗，消除码间干扰，保证高速 OOK/DPSK 调制波形无失真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97174" y="4163060"/>
            <a:ext cx="2511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34253" y="3745329"/>
            <a:ext cx="197510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DAC</a:t>
            </a:r>
            <a:r>
              <a:rPr lang="zh-CN" altLang="en-US" dirty="0"/>
              <a:t>数模</a:t>
            </a:r>
            <a:r>
              <a:rPr lang="zh-CN" altLang="en-US" dirty="0"/>
              <a:t>转换器（</a:t>
            </a:r>
            <a:r>
              <a:rPr lang="zh-CN" altLang="en-US" dirty="0"/>
              <a:t>将把数字码流变成模拟电波形）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50365" y="3168904"/>
            <a:ext cx="1905" cy="47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101074" y="2113899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电驱动器件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808976" y="4021574"/>
            <a:ext cx="117983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4944" y="3761232"/>
            <a:ext cx="24993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输出二进制数字</a:t>
            </a:r>
            <a:r>
              <a:rPr lang="zh-CN" altLang="en-US" dirty="0"/>
              <a:t>信号（编码</a:t>
            </a:r>
            <a:r>
              <a:rPr lang="en-US" altLang="zh-CN" dirty="0"/>
              <a:t>+</a:t>
            </a:r>
            <a:r>
              <a:rPr lang="zh-CN" altLang="en-US" dirty="0"/>
              <a:t>调制），但电流极小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47344" y="2411079"/>
            <a:ext cx="18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原始数据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7290816" y="5431536"/>
            <a:ext cx="1719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084064" y="4998720"/>
            <a:ext cx="193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光学器件整形、耦合输出</a:t>
            </a:r>
            <a:endParaRPr lang="zh-CN" altLang="en-US" dirty="0"/>
          </a:p>
        </p:txBody>
      </p:sp>
      <p:pic>
        <p:nvPicPr>
          <p:cNvPr id="3" name="图片 2" descr="屏幕截图 2026-07-29 1036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85" y="1043940"/>
            <a:ext cx="6408420" cy="2385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91870" y="835660"/>
            <a:ext cx="3813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采样率</a:t>
            </a:r>
            <a:r>
              <a:rPr lang="en-US" altLang="zh-CN"/>
              <a:t>=</a:t>
            </a:r>
            <a:r>
              <a:rPr lang="zh-CN" altLang="en-US"/>
              <a:t>存储深度</a:t>
            </a:r>
            <a:r>
              <a:rPr lang="en-US" altLang="zh-CN"/>
              <a:t>/</a:t>
            </a:r>
            <a:r>
              <a:rPr lang="zh-CN" altLang="en-US"/>
              <a:t>时</a:t>
            </a:r>
            <a:r>
              <a:rPr lang="zh-CN" altLang="en-US"/>
              <a:t>基范围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7755" y="1428115"/>
            <a:ext cx="3622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时基范围</a:t>
            </a:r>
            <a:r>
              <a:rPr lang="en-US" altLang="zh-CN"/>
              <a:t>=Time/Div </a:t>
            </a:r>
            <a:r>
              <a:rPr lang="en-US" altLang="zh-CN"/>
              <a:t>x 10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296035" y="2294890"/>
            <a:ext cx="603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调整触发电平</a:t>
            </a:r>
            <a:r>
              <a:rPr lang="en-US" altLang="zh-CN"/>
              <a:t>-&gt;</a:t>
            </a:r>
            <a:r>
              <a:rPr lang="zh-CN" altLang="en-US"/>
              <a:t>得到稳定波形</a:t>
            </a:r>
            <a:r>
              <a:rPr lang="en-US" altLang="zh-CN"/>
              <a:t>-&gt;</a:t>
            </a:r>
            <a:r>
              <a:rPr lang="zh-CN" altLang="en-US"/>
              <a:t>调</a:t>
            </a:r>
            <a:r>
              <a:rPr lang="en-US" altLang="zh-CN"/>
              <a:t>Time/Div</a:t>
            </a:r>
            <a:r>
              <a:rPr lang="zh-CN" altLang="en-US"/>
              <a:t>和采样</a:t>
            </a:r>
            <a:r>
              <a:rPr lang="zh-CN" altLang="en-US"/>
              <a:t>深度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7240" y="732155"/>
            <a:ext cx="344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图像编码（像素</a:t>
            </a:r>
            <a:r>
              <a:rPr lang="zh-CN" altLang="en-US"/>
              <a:t>路径）</a:t>
            </a:r>
            <a:endParaRPr lang="zh-CN" altLang="en-US"/>
          </a:p>
        </p:txBody>
      </p:sp>
      <p:pic>
        <p:nvPicPr>
          <p:cNvPr id="2" name="图片 1" descr="屏幕截图 2026-07-31 1234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320800"/>
            <a:ext cx="4933950" cy="2616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6955" y="4228465"/>
            <a:ext cx="407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RGB</a:t>
            </a:r>
            <a:r>
              <a:rPr lang="zh-CN" altLang="en-US"/>
              <a:t>像素</a:t>
            </a:r>
            <a:r>
              <a:rPr lang="en-US" altLang="zh-CN"/>
              <a:t>-&gt;0/1</a:t>
            </a:r>
            <a:r>
              <a:rPr lang="zh-CN" altLang="en-US"/>
              <a:t>比特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img</a:t>
            </a:r>
            <a:r>
              <a:rPr lang="zh-CN" altLang="en-US"/>
              <a:t>：</a:t>
            </a:r>
            <a:r>
              <a:rPr lang="en-US" altLang="zh-CN"/>
              <a:t>HxWx3</a:t>
            </a:r>
            <a:r>
              <a:rPr lang="zh-CN" altLang="en-US"/>
              <a:t>，</a:t>
            </a:r>
            <a:r>
              <a:rPr lang="en-US" altLang="zh-CN"/>
              <a:t>unit8   </a:t>
            </a:r>
            <a:r>
              <a:rPr lang="zh-CN" altLang="en-US"/>
              <a:t>比特数为</a:t>
            </a:r>
            <a:r>
              <a:rPr lang="en-US" altLang="zh-CN"/>
              <a:t>3xHxW</a:t>
            </a:r>
            <a:r>
              <a:rPr lang="en-US" altLang="zh-CN"/>
              <a:t>x8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546850" y="1100455"/>
            <a:ext cx="35782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流程：</a:t>
            </a:r>
            <a:endParaRPr lang="zh-CN" altLang="en-US"/>
          </a:p>
          <a:p>
            <a:r>
              <a:rPr lang="zh-CN" altLang="en-US"/>
              <a:t>图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比特流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有误码会导致图片有花点，但不会打不开图片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5780" y="5880100"/>
            <a:ext cx="1117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压缩比特路径：图片压缩（损失部分细节）形成</a:t>
            </a:r>
            <a:r>
              <a:rPr lang="en-US" altLang="zh-CN"/>
              <a:t>jpg</a:t>
            </a:r>
            <a:r>
              <a:rPr lang="zh-CN" altLang="en-US"/>
              <a:t>格式的</a:t>
            </a:r>
            <a:r>
              <a:rPr lang="en-US" altLang="zh-CN"/>
              <a:t>0/1</a:t>
            </a:r>
            <a:r>
              <a:rPr lang="zh-CN" altLang="en-US"/>
              <a:t>码流（已保存各种信息）</a:t>
            </a:r>
            <a:r>
              <a:rPr lang="en-US" altLang="zh-CN"/>
              <a:t>-&gt;</a:t>
            </a:r>
            <a:r>
              <a:rPr lang="zh-CN" altLang="en-US"/>
              <a:t>通信</a:t>
            </a:r>
            <a:r>
              <a:rPr lang="en-US" altLang="zh-CN"/>
              <a:t>-&gt;</a:t>
            </a:r>
            <a:r>
              <a:rPr lang="zh-CN" altLang="en-US"/>
              <a:t>得到</a:t>
            </a:r>
            <a:r>
              <a:rPr lang="zh-CN" altLang="en-US"/>
              <a:t>码流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</Words>
  <Application>WPS 演示</Application>
  <PresentationFormat>宽屏</PresentationFormat>
  <Paragraphs>140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蓝俊涛</dc:creator>
  <cp:lastModifiedBy>蓝俊涛</cp:lastModifiedBy>
  <cp:revision>18</cp:revision>
  <dcterms:created xsi:type="dcterms:W3CDTF">2023-08-09T12:44:00Z</dcterms:created>
  <dcterms:modified xsi:type="dcterms:W3CDTF">2026-07-31T07:40:14Z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18A0D7A73E6242C5B65584461BB85EEF_12</vt:lpwstr>
  </property>
</Properties>
</file>